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67" r:id="rId4"/>
    <p:sldId id="263" r:id="rId5"/>
    <p:sldId id="275" r:id="rId6"/>
    <p:sldId id="276" r:id="rId7"/>
    <p:sldId id="268" r:id="rId8"/>
    <p:sldId id="270" r:id="rId9"/>
    <p:sldId id="277" r:id="rId10"/>
    <p:sldId id="279" r:id="rId11"/>
    <p:sldId id="281" r:id="rId12"/>
    <p:sldId id="273" r:id="rId13"/>
    <p:sldId id="280" r:id="rId14"/>
    <p:sldId id="271" r:id="rId15"/>
    <p:sldId id="261" r:id="rId16"/>
    <p:sldId id="278" r:id="rId17"/>
    <p:sldId id="264" r:id="rId18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9C3"/>
    <a:srgbClr val="C4BD97"/>
    <a:srgbClr val="002841"/>
    <a:srgbClr val="F1E8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819077-D04C-6AD2-B07B-E825F6A09B2A}" v="46" dt="2024-12-14T19:17:32.772"/>
    <p1510:client id="{A5217839-567F-4A1C-4F4F-DE8E5495F2B3}" v="940" dt="2024-12-14T19:16:44.860"/>
    <p1510:client id="{A789F812-C9AB-4E11-BDE9-F7EBC86C6F87}" v="1935" dt="2024-12-14T19:07:04.626"/>
    <p1510:client id="{B2239771-D112-C0FC-3B0E-6599668B8AB0}" v="1156" dt="2024-12-14T16:03:11.3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408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08D587-E84D-46D7-A9B6-C30E4475F2F7}" type="datetimeFigureOut">
              <a:rPr lang="ko-KR" altLang="en-US" smtClean="0"/>
              <a:t>2024-12-19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321445-E7DA-4318-9F1A-39C84156E2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3379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8B2B6-0890-6CB6-6139-E836CEE40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9286585-3A99-8E5E-BDDF-8077BA1818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7433384-455E-25D9-A168-8FF5A84EAF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465279-D8CA-173D-188E-20391FF354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321445-E7DA-4318-9F1A-39C84156E279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90589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321445-E7DA-4318-9F1A-39C84156E279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2479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ACB24-16A6-12AF-F3B9-49DD32D93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EE52A5D-7A35-BF11-B92B-4763F1DA6A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6CE17A2-5D87-A829-38DA-D910098FD3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CF1F30-CC40-B78E-18C2-E7765817D6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321445-E7DA-4318-9F1A-39C84156E279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5790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8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2794000"/>
            <a:ext cx="15836900" cy="3111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5905500"/>
            <a:ext cx="15836900" cy="15494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435100" y="3479800"/>
            <a:ext cx="15405100" cy="165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6600" b="1" i="0" u="none" strike="noStrike" spc="-200">
                <a:solidFill>
                  <a:srgbClr val="FFFDF6"/>
                </a:solidFill>
                <a:ea typeface="Hallym Gothic Bold"/>
              </a:rPr>
              <a:t>날씨와 어획량을 이용한 수산물 시세 예측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52600" y="6438900"/>
            <a:ext cx="54610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500" spc="-100">
                <a:solidFill>
                  <a:srgbClr val="002841"/>
                </a:solidFill>
                <a:ea typeface="Hallym Gothic Regular"/>
              </a:rPr>
              <a:t>딥러닝 응용 </a:t>
            </a:r>
            <a:r>
              <a:rPr lang="ko-KR" altLang="en-US" sz="2500" spc="-100" err="1">
                <a:solidFill>
                  <a:srgbClr val="002841"/>
                </a:solidFill>
                <a:ea typeface="Hallym Gothic Regular"/>
              </a:rPr>
              <a:t>텀</a:t>
            </a:r>
            <a:r>
              <a:rPr lang="ko-KR" altLang="en-US" sz="2500" spc="-100">
                <a:solidFill>
                  <a:srgbClr val="002841"/>
                </a:solidFill>
                <a:ea typeface="Hallym Gothic Regular"/>
              </a:rPr>
              <a:t> 프로젝트</a:t>
            </a:r>
            <a:endParaRPr lang="ko-KR" sz="2500" b="0" i="0" u="none" strike="noStrike" spc="-100">
              <a:solidFill>
                <a:srgbClr val="002841"/>
              </a:solidFill>
              <a:ea typeface="Hallym Gothic Regular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074400" y="6000750"/>
            <a:ext cx="5461000" cy="1358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altLang="ko-KR" sz="2500" b="0" i="0" u="none" strike="noStrike" spc="-100">
                <a:solidFill>
                  <a:srgbClr val="002841"/>
                </a:solidFill>
                <a:ea typeface="Hallym Gothic Regular"/>
              </a:rPr>
              <a:t>2022003 </a:t>
            </a:r>
            <a:r>
              <a:rPr lang="ko-KR" altLang="en-US" sz="2500" b="0" i="0" u="none" strike="noStrike" spc="-100">
                <a:solidFill>
                  <a:srgbClr val="002841"/>
                </a:solidFill>
                <a:ea typeface="Hallym Gothic Regular"/>
              </a:rPr>
              <a:t>김대욱</a:t>
            </a:r>
            <a:endParaRPr lang="en-US" altLang="ko-KR" sz="2500" b="0" i="0" u="none" strike="noStrike" spc="-100">
              <a:solidFill>
                <a:srgbClr val="002841"/>
              </a:solidFill>
              <a:ea typeface="Hallym Gothic Regular"/>
            </a:endParaRPr>
          </a:p>
          <a:p>
            <a:pPr lvl="0" algn="r">
              <a:lnSpc>
                <a:spcPct val="99600"/>
              </a:lnSpc>
            </a:pPr>
            <a:r>
              <a:rPr lang="en-US" altLang="ko-KR" sz="2500" spc="-100">
                <a:solidFill>
                  <a:srgbClr val="002841"/>
                </a:solidFill>
                <a:ea typeface="Hallym Gothic Regular"/>
              </a:rPr>
              <a:t>2022007 </a:t>
            </a:r>
            <a:r>
              <a:rPr lang="ko-KR" altLang="en-US" sz="2500" spc="-100" err="1">
                <a:solidFill>
                  <a:srgbClr val="002841"/>
                </a:solidFill>
                <a:ea typeface="Hallym Gothic Regular"/>
              </a:rPr>
              <a:t>김범진</a:t>
            </a:r>
            <a:endParaRPr lang="en-US" altLang="ko-KR" sz="2500" b="0" i="0" u="none" strike="noStrike" spc="-100">
              <a:solidFill>
                <a:srgbClr val="002841"/>
              </a:solidFill>
              <a:ea typeface="Hallym Gothic Regular"/>
            </a:endParaRPr>
          </a:p>
          <a:p>
            <a:pPr lvl="0" algn="r">
              <a:lnSpc>
                <a:spcPct val="99600"/>
              </a:lnSpc>
            </a:pPr>
            <a:r>
              <a:rPr lang="en-US" altLang="ko-KR" sz="2500" spc="-100">
                <a:solidFill>
                  <a:srgbClr val="002841"/>
                </a:solidFill>
                <a:ea typeface="Hallym Gothic Regular"/>
              </a:rPr>
              <a:t>2022049 </a:t>
            </a:r>
            <a:r>
              <a:rPr lang="ko-KR" altLang="en-US" sz="2500" spc="-100">
                <a:solidFill>
                  <a:srgbClr val="002841"/>
                </a:solidFill>
                <a:ea typeface="Hallym Gothic Regular"/>
              </a:rPr>
              <a:t>최재훈</a:t>
            </a:r>
            <a:endParaRPr lang="en-US" altLang="ko-KR" sz="2500" spc="-100">
              <a:solidFill>
                <a:srgbClr val="002841"/>
              </a:solidFill>
              <a:ea typeface="Hallym Gothic Regula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8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0200" y="0"/>
            <a:ext cx="116078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200" y="2438400"/>
            <a:ext cx="11607800" cy="25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200" y="5689600"/>
            <a:ext cx="11607800" cy="2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200" y="4064000"/>
            <a:ext cx="11607800" cy="254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219200" y="1803400"/>
            <a:ext cx="5308600" cy="1422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8000" b="1" i="0" u="none" strike="noStrike" spc="-300">
                <a:solidFill>
                  <a:srgbClr val="002841"/>
                </a:solidFill>
                <a:latin typeface="Hallym Gothic Bold"/>
              </a:rPr>
              <a:t>목차</a:t>
            </a:r>
            <a:endParaRPr lang="en-US" sz="8000" b="1" i="0" u="none" strike="noStrike" spc="-300">
              <a:solidFill>
                <a:srgbClr val="002841"/>
              </a:solidFill>
              <a:latin typeface="Hallym Gothic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734300" y="1384300"/>
            <a:ext cx="7620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200" b="0" i="0" u="none" strike="noStrike" spc="-200">
                <a:solidFill>
                  <a:srgbClr val="FFFDF6"/>
                </a:solidFill>
                <a:latin typeface="Hallym Gothic Bold"/>
              </a:rPr>
              <a:t>01.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734300" y="2984500"/>
            <a:ext cx="7620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200" b="0" i="0" u="none" strike="noStrike" spc="-200">
                <a:solidFill>
                  <a:srgbClr val="FFFDF6"/>
                </a:solidFill>
                <a:latin typeface="Hallym Gothic Bold"/>
              </a:rPr>
              <a:t>02.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734300" y="4610100"/>
            <a:ext cx="7620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200" b="0" i="0" u="none" strike="noStrike" spc="-200">
                <a:solidFill>
                  <a:srgbClr val="FFFDF6"/>
                </a:solidFill>
                <a:latin typeface="Hallym Gothic Bold"/>
              </a:rPr>
              <a:t>03.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661400" y="1413796"/>
            <a:ext cx="84836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900" spc="-100">
                <a:solidFill>
                  <a:srgbClr val="FFFDF6"/>
                </a:solidFill>
                <a:latin typeface="Hallym Gothic Regular"/>
              </a:rPr>
              <a:t>주제</a:t>
            </a:r>
            <a:endParaRPr lang="en-US" sz="2900" b="0" i="0" u="none" strike="noStrike" spc="-100">
              <a:solidFill>
                <a:srgbClr val="FFFDF6"/>
              </a:solidFill>
              <a:latin typeface="Hallym Gothic Regular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734300" y="6210300"/>
            <a:ext cx="7620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200" b="0" i="0" u="none" strike="noStrike" spc="-200">
                <a:solidFill>
                  <a:srgbClr val="FFFDF6"/>
                </a:solidFill>
                <a:latin typeface="Hallym Gothic Bold"/>
              </a:rPr>
              <a:t>04.</a:t>
            </a:r>
          </a:p>
        </p:txBody>
      </p:sp>
      <p:sp>
        <p:nvSpPr>
          <p:cNvPr id="5" name="TextBox 14">
            <a:extLst>
              <a:ext uri="{FF2B5EF4-FFF2-40B4-BE49-F238E27FC236}">
                <a16:creationId xmlns:a16="http://schemas.microsoft.com/office/drawing/2014/main" id="{37404CE7-838F-51F8-F625-748CE9C59F01}"/>
              </a:ext>
            </a:extLst>
          </p:cNvPr>
          <p:cNvSpPr txBox="1"/>
          <p:nvPr/>
        </p:nvSpPr>
        <p:spPr>
          <a:xfrm>
            <a:off x="8661400" y="3009900"/>
            <a:ext cx="84836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99600"/>
              </a:lnSpc>
            </a:pPr>
            <a:r>
              <a:rPr lang="ko-KR" altLang="en-US" sz="2900" spc="-100">
                <a:solidFill>
                  <a:srgbClr val="FFFDF6"/>
                </a:solidFill>
                <a:latin typeface="Hallym Gothic Regular"/>
                <a:ea typeface="맑은 고딕"/>
              </a:rPr>
              <a:t>주차 별</a:t>
            </a:r>
            <a:r>
              <a:rPr lang="ko-KR" altLang="en-US" sz="2900" b="0" i="0" u="none" strike="noStrike" spc="-100">
                <a:solidFill>
                  <a:srgbClr val="FFFDF6"/>
                </a:solidFill>
                <a:latin typeface="Hallym Gothic Regular"/>
                <a:ea typeface="맑은 고딕"/>
              </a:rPr>
              <a:t> 계획</a:t>
            </a:r>
            <a:endParaRPr lang="en-US" sz="2900" b="0" i="0" u="none" strike="noStrike" spc="-100">
              <a:solidFill>
                <a:srgbClr val="FFFDF6"/>
              </a:solidFill>
              <a:latin typeface="Hallym Gothic Regular"/>
              <a:ea typeface="맑은 고딕"/>
            </a:endParaRPr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EB8989A2-5471-2172-7F99-84EDFE3FB6F1}"/>
              </a:ext>
            </a:extLst>
          </p:cNvPr>
          <p:cNvSpPr txBox="1"/>
          <p:nvPr/>
        </p:nvSpPr>
        <p:spPr>
          <a:xfrm>
            <a:off x="8661400" y="4653642"/>
            <a:ext cx="84836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99600"/>
              </a:lnSpc>
            </a:pPr>
            <a:r>
              <a:rPr lang="ko-KR" altLang="en-US" sz="2900" spc="-100">
                <a:solidFill>
                  <a:srgbClr val="FFFDF6"/>
                </a:solidFill>
                <a:latin typeface="Hallym Gothic Regular"/>
                <a:ea typeface="맑은 고딕"/>
              </a:rPr>
              <a:t>데이터 셋</a:t>
            </a:r>
            <a:endParaRPr lang="en-US" sz="2900" b="0" i="0" u="none" strike="noStrike" spc="-100">
              <a:solidFill>
                <a:srgbClr val="FFFDF6"/>
              </a:solidFill>
              <a:latin typeface="Hallym Gothic Regular"/>
            </a:endParaRPr>
          </a:p>
        </p:txBody>
      </p:sp>
      <p:sp>
        <p:nvSpPr>
          <p:cNvPr id="17" name="TextBox 14">
            <a:extLst>
              <a:ext uri="{FF2B5EF4-FFF2-40B4-BE49-F238E27FC236}">
                <a16:creationId xmlns:a16="http://schemas.microsoft.com/office/drawing/2014/main" id="{29993C50-51BD-31B3-0586-E320D18CB4E5}"/>
              </a:ext>
            </a:extLst>
          </p:cNvPr>
          <p:cNvSpPr txBox="1"/>
          <p:nvPr/>
        </p:nvSpPr>
        <p:spPr>
          <a:xfrm>
            <a:off x="8661400" y="6261100"/>
            <a:ext cx="84836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99600"/>
              </a:lnSpc>
            </a:pPr>
            <a:r>
              <a:rPr lang="ko-KR" altLang="en-US" sz="2900" spc="-100" err="1">
                <a:solidFill>
                  <a:srgbClr val="FFFDF6"/>
                </a:solidFill>
                <a:latin typeface="Hallym Gothic Regular"/>
                <a:ea typeface="맑은 고딕"/>
              </a:rPr>
              <a:t>하이퍼</a:t>
            </a:r>
            <a:r>
              <a:rPr lang="ko-KR" altLang="en-US" sz="2900" spc="-100">
                <a:solidFill>
                  <a:srgbClr val="FFFDF6"/>
                </a:solidFill>
                <a:latin typeface="Hallym Gothic Regular"/>
                <a:ea typeface="맑은 고딕"/>
              </a:rPr>
              <a:t> 파라미터 튜닝</a:t>
            </a:r>
            <a:endParaRPr lang="en-US" sz="2900" b="0" i="0" u="none" strike="noStrike" spc="-100">
              <a:solidFill>
                <a:srgbClr val="FFFDF6"/>
              </a:solidFill>
              <a:latin typeface="Hallym Gothic Regular"/>
              <a:ea typeface="맑은 고딕"/>
            </a:endParaRP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22B219A3-3D40-06F1-B46E-68C9EF807C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200" y="7327900"/>
            <a:ext cx="11607800" cy="25400"/>
          </a:xfrm>
          <a:prstGeom prst="rect">
            <a:avLst/>
          </a:prstGeom>
        </p:spPr>
      </p:pic>
      <p:sp>
        <p:nvSpPr>
          <p:cNvPr id="10" name="TextBox 15">
            <a:extLst>
              <a:ext uri="{FF2B5EF4-FFF2-40B4-BE49-F238E27FC236}">
                <a16:creationId xmlns:a16="http://schemas.microsoft.com/office/drawing/2014/main" id="{BA700B99-DCF1-CD02-216D-03C40E8392FE}"/>
              </a:ext>
            </a:extLst>
          </p:cNvPr>
          <p:cNvSpPr txBox="1"/>
          <p:nvPr/>
        </p:nvSpPr>
        <p:spPr>
          <a:xfrm>
            <a:off x="7734300" y="7848600"/>
            <a:ext cx="7620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200" b="0" i="0" u="none" strike="noStrike" spc="-200">
                <a:solidFill>
                  <a:srgbClr val="FFFDF6"/>
                </a:solidFill>
                <a:latin typeface="Hallym Gothic Bold"/>
              </a:rPr>
              <a:t>05.</a:t>
            </a:r>
          </a:p>
        </p:txBody>
      </p:sp>
      <p:sp>
        <p:nvSpPr>
          <p:cNvPr id="12" name="TextBox 14">
            <a:extLst>
              <a:ext uri="{FF2B5EF4-FFF2-40B4-BE49-F238E27FC236}">
                <a16:creationId xmlns:a16="http://schemas.microsoft.com/office/drawing/2014/main" id="{CD06619F-4FDE-1D9A-23AD-06D74CA3F666}"/>
              </a:ext>
            </a:extLst>
          </p:cNvPr>
          <p:cNvSpPr txBox="1"/>
          <p:nvPr/>
        </p:nvSpPr>
        <p:spPr>
          <a:xfrm>
            <a:off x="8661400" y="7899400"/>
            <a:ext cx="84836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99600"/>
              </a:lnSpc>
            </a:pPr>
            <a:r>
              <a:rPr lang="ko-KR" altLang="en-US" sz="2900" spc="-100">
                <a:solidFill>
                  <a:srgbClr val="FFFDF6"/>
                </a:solidFill>
                <a:latin typeface="Hallym Gothic Regular"/>
                <a:ea typeface="맑은 고딕"/>
              </a:rPr>
              <a:t>결과 분석</a:t>
            </a:r>
            <a:endParaRPr lang="ko-KR" altLang="en-US" sz="2900" b="0" i="0" u="none" strike="noStrike" spc="-100">
              <a:solidFill>
                <a:srgbClr val="FFFDF6"/>
              </a:solidFill>
              <a:latin typeface="Hallym Gothic Regular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8C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604E75-A365-05DB-6AA6-FB3336945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A5D982B-DB62-841E-3CF9-1A12FB8A46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051" y="361950"/>
            <a:ext cx="17602200" cy="95631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918BC324-2E71-A6D2-8EA1-D64FF688F7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5998" y="1666250"/>
            <a:ext cx="5027202" cy="13042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BDF6807D-E717-961B-3C87-997520DC15CE}"/>
              </a:ext>
            </a:extLst>
          </p:cNvPr>
          <p:cNvSpPr txBox="1"/>
          <p:nvPr/>
        </p:nvSpPr>
        <p:spPr>
          <a:xfrm>
            <a:off x="673100" y="1257300"/>
            <a:ext cx="130429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5500" b="1" spc="-200">
                <a:solidFill>
                  <a:srgbClr val="002841"/>
                </a:solidFill>
                <a:ea typeface="Hallym Gothic Bold"/>
              </a:rPr>
              <a:t>날씨와 어획량을 이용한 수산물 시세 예측</a:t>
            </a:r>
            <a:endParaRPr lang="ko-KR" sz="5500" b="1" i="0" u="none" strike="noStrike" spc="-200">
              <a:solidFill>
                <a:srgbClr val="002841"/>
              </a:solidFill>
              <a:ea typeface="Hallym Gothic Bol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6E963DE-0AB4-C714-92C2-FD1A4D30911D}"/>
              </a:ext>
            </a:extLst>
          </p:cNvPr>
          <p:cNvSpPr txBox="1"/>
          <p:nvPr/>
        </p:nvSpPr>
        <p:spPr>
          <a:xfrm>
            <a:off x="8396698" y="3569073"/>
            <a:ext cx="9118600" cy="391085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ko-KR" altLang="en-US" sz="4400" b="0" i="0" u="none" strike="noStrike" spc="-200">
                <a:solidFill>
                  <a:srgbClr val="0070C0"/>
                </a:solidFill>
                <a:ea typeface="Hallym Gothic Bold"/>
              </a:rPr>
              <a:t>날씨 데이터 </a:t>
            </a:r>
            <a:r>
              <a:rPr lang="ko-KR" altLang="en-US" sz="4400" b="0" i="0" u="none" strike="noStrike" spc="-200">
                <a:solidFill>
                  <a:srgbClr val="002841"/>
                </a:solidFill>
                <a:ea typeface="Hallym Gothic Bold"/>
              </a:rPr>
              <a:t>와 </a:t>
            </a:r>
            <a:r>
              <a:rPr lang="ko-KR" altLang="en-US" sz="4400" b="0" i="0" u="none" strike="noStrike" spc="-200">
                <a:solidFill>
                  <a:srgbClr val="0070C0"/>
                </a:solidFill>
                <a:ea typeface="Hallym Gothic Bold"/>
              </a:rPr>
              <a:t>어획량</a:t>
            </a:r>
            <a:r>
              <a:rPr lang="ko-KR" altLang="en-US" sz="4400" b="0" i="0" u="none" strike="noStrike" spc="-200">
                <a:solidFill>
                  <a:srgbClr val="002841"/>
                </a:solidFill>
                <a:ea typeface="Hallym Gothic Bold"/>
              </a:rPr>
              <a:t>을 이용하여 </a:t>
            </a:r>
            <a:r>
              <a:rPr lang="ko-KR" altLang="en-US" sz="4400" b="0" i="0" u="none" strike="noStrike" spc="-200">
                <a:solidFill>
                  <a:srgbClr val="FF0000"/>
                </a:solidFill>
                <a:ea typeface="Hallym Gothic Bold"/>
              </a:rPr>
              <a:t>수산물별 시세</a:t>
            </a:r>
            <a:r>
              <a:rPr lang="ko-KR" altLang="en-US" sz="4400" b="0" i="0" u="none" strike="noStrike" spc="-200">
                <a:solidFill>
                  <a:srgbClr val="002841"/>
                </a:solidFill>
                <a:ea typeface="Hallym Gothic Bold"/>
              </a:rPr>
              <a:t>를 예측한다</a:t>
            </a:r>
            <a:r>
              <a:rPr lang="en-US" altLang="ko-KR" sz="4400" b="0" i="0" u="none" strike="noStrike" spc="-200">
                <a:solidFill>
                  <a:srgbClr val="002841"/>
                </a:solidFill>
                <a:ea typeface="Hallym Gothic Bold"/>
              </a:rPr>
              <a:t>. </a:t>
            </a:r>
          </a:p>
          <a:p>
            <a:pPr lvl="0" algn="l">
              <a:lnSpc>
                <a:spcPct val="124499"/>
              </a:lnSpc>
            </a:pPr>
            <a:endParaRPr lang="en-US" altLang="ko-KR" sz="4400" spc="-200">
              <a:solidFill>
                <a:srgbClr val="002841"/>
              </a:solidFill>
              <a:ea typeface="Hallym Gothic Bold"/>
            </a:endParaRPr>
          </a:p>
          <a:p>
            <a:pPr lvl="0" algn="l">
              <a:lnSpc>
                <a:spcPct val="124499"/>
              </a:lnSpc>
            </a:pPr>
            <a:r>
              <a:rPr lang="ko-KR" altLang="en-US" sz="4400" b="0" i="0" u="none" strike="noStrike" spc="-200">
                <a:solidFill>
                  <a:srgbClr val="002841"/>
                </a:solidFill>
                <a:ea typeface="Hallym Gothic Bold"/>
              </a:rPr>
              <a:t>목표 </a:t>
            </a:r>
            <a:r>
              <a:rPr lang="en-US" altLang="ko-KR" sz="4400" b="0" i="0" u="none" strike="noStrike" spc="-200">
                <a:solidFill>
                  <a:srgbClr val="002841"/>
                </a:solidFill>
                <a:ea typeface="Hallym Gothic Bold"/>
              </a:rPr>
              <a:t>: </a:t>
            </a:r>
            <a:r>
              <a:rPr lang="ko-KR" altLang="en-US" sz="4400" b="0" i="0" u="none" strike="noStrike" spc="-200">
                <a:solidFill>
                  <a:srgbClr val="002841"/>
                </a:solidFill>
                <a:ea typeface="Hallym Gothic Bold"/>
              </a:rPr>
              <a:t>무분별한 수산물 가격 책정을 방지하여 합리적인 소비를 지향 </a:t>
            </a:r>
            <a:endParaRPr lang="en-US" sz="4400" b="0" i="0" u="none" strike="noStrike" spc="-200">
              <a:solidFill>
                <a:srgbClr val="002841"/>
              </a:solidFill>
              <a:latin typeface="Hallym Gothic Bold"/>
            </a:endParaRPr>
          </a:p>
        </p:txBody>
      </p:sp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3DC48073-F479-0DC4-7A32-D142B2AE9A54}"/>
              </a:ext>
            </a:extLst>
          </p:cNvPr>
          <p:cNvSpPr/>
          <p:nvPr/>
        </p:nvSpPr>
        <p:spPr>
          <a:xfrm rot="5400000">
            <a:off x="3703320" y="5530850"/>
            <a:ext cx="838200" cy="97790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더하기 기호 3">
            <a:extLst>
              <a:ext uri="{FF2B5EF4-FFF2-40B4-BE49-F238E27FC236}">
                <a16:creationId xmlns:a16="http://schemas.microsoft.com/office/drawing/2014/main" id="{490476D0-02D4-99AA-2B0E-52643DCC4354}"/>
              </a:ext>
            </a:extLst>
          </p:cNvPr>
          <p:cNvSpPr/>
          <p:nvPr/>
        </p:nvSpPr>
        <p:spPr>
          <a:xfrm>
            <a:off x="3390900" y="3406013"/>
            <a:ext cx="1371600" cy="1332273"/>
          </a:xfrm>
          <a:prstGeom prst="mathPlus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래픽 9" descr="구름 윤곽선">
            <a:extLst>
              <a:ext uri="{FF2B5EF4-FFF2-40B4-BE49-F238E27FC236}">
                <a16:creationId xmlns:a16="http://schemas.microsoft.com/office/drawing/2014/main" id="{D62FFEA5-E015-3C9E-B150-3F3BCCB5A4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0750" y="3067797"/>
            <a:ext cx="2133600" cy="2133600"/>
          </a:xfrm>
          <a:prstGeom prst="rect">
            <a:avLst/>
          </a:prstGeom>
        </p:spPr>
      </p:pic>
      <p:pic>
        <p:nvPicPr>
          <p:cNvPr id="34" name="그래픽 33" descr="어류 윤곽선">
            <a:extLst>
              <a:ext uri="{FF2B5EF4-FFF2-40B4-BE49-F238E27FC236}">
                <a16:creationId xmlns:a16="http://schemas.microsoft.com/office/drawing/2014/main" id="{A24AF346-6FE6-196A-DC07-ADE18866F41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13400" y="3175000"/>
            <a:ext cx="1371600" cy="1371600"/>
          </a:xfrm>
          <a:prstGeom prst="rect">
            <a:avLst/>
          </a:prstGeom>
        </p:spPr>
      </p:pic>
      <p:pic>
        <p:nvPicPr>
          <p:cNvPr id="35" name="그래픽 34" descr="어류 윤곽선">
            <a:extLst>
              <a:ext uri="{FF2B5EF4-FFF2-40B4-BE49-F238E27FC236}">
                <a16:creationId xmlns:a16="http://schemas.microsoft.com/office/drawing/2014/main" id="{446263C3-4E7D-8DEF-6C09-C11F8D35F9A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76800" y="3848100"/>
            <a:ext cx="1371600" cy="1371600"/>
          </a:xfrm>
          <a:prstGeom prst="rect">
            <a:avLst/>
          </a:prstGeom>
        </p:spPr>
      </p:pic>
      <p:pic>
        <p:nvPicPr>
          <p:cNvPr id="36" name="그래픽 35" descr="어류 윤곽선">
            <a:extLst>
              <a:ext uri="{FF2B5EF4-FFF2-40B4-BE49-F238E27FC236}">
                <a16:creationId xmlns:a16="http://schemas.microsoft.com/office/drawing/2014/main" id="{E4801609-2F61-4101-067C-9050EFED7D6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3848100"/>
            <a:ext cx="1371600" cy="1371600"/>
          </a:xfrm>
          <a:prstGeom prst="rect">
            <a:avLst/>
          </a:prstGeom>
        </p:spPr>
      </p:pic>
      <p:pic>
        <p:nvPicPr>
          <p:cNvPr id="37" name="그래픽 36" descr="어류 윤곽선">
            <a:extLst>
              <a:ext uri="{FF2B5EF4-FFF2-40B4-BE49-F238E27FC236}">
                <a16:creationId xmlns:a16="http://schemas.microsoft.com/office/drawing/2014/main" id="{A58A0B50-34FB-7DD5-CB00-D7649966CE7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667000" y="6972300"/>
            <a:ext cx="1371600" cy="1371600"/>
          </a:xfrm>
          <a:prstGeom prst="rect">
            <a:avLst/>
          </a:prstGeom>
        </p:spPr>
      </p:pic>
      <p:pic>
        <p:nvPicPr>
          <p:cNvPr id="40" name="그래픽 39" descr="달러 단색으로 채워진">
            <a:extLst>
              <a:ext uri="{FF2B5EF4-FFF2-40B4-BE49-F238E27FC236}">
                <a16:creationId xmlns:a16="http://schemas.microsoft.com/office/drawing/2014/main" id="{4CCCB600-320E-0D54-A7B2-6839C1D640A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67439" y="7003026"/>
            <a:ext cx="1194986" cy="1194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467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8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368300"/>
            <a:ext cx="17602200" cy="9563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5300" y="3784600"/>
            <a:ext cx="3860800" cy="3949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2992100" y="5524500"/>
            <a:ext cx="863600" cy="444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8000"/>
          </a:blip>
          <a:stretch>
            <a:fillRect/>
          </a:stretch>
        </p:blipFill>
        <p:spPr>
          <a:xfrm rot="-5400000">
            <a:off x="9359900" y="3632200"/>
            <a:ext cx="3949700" cy="4241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3026" y="1148723"/>
            <a:ext cx="13006058" cy="39354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9004300" y="5524500"/>
            <a:ext cx="863600" cy="444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alphaModFix amt="76000"/>
          </a:blip>
          <a:stretch>
            <a:fillRect/>
          </a:stretch>
        </p:blipFill>
        <p:spPr>
          <a:xfrm rot="-5400000">
            <a:off x="5359400" y="3632200"/>
            <a:ext cx="3949700" cy="4241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5003800" y="5524500"/>
            <a:ext cx="863600" cy="444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alphaModFix amt="64000"/>
          </a:blip>
          <a:stretch>
            <a:fillRect/>
          </a:stretch>
        </p:blipFill>
        <p:spPr>
          <a:xfrm rot="-5400000">
            <a:off x="1371600" y="3632200"/>
            <a:ext cx="3949700" cy="42418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3817600" y="4876800"/>
            <a:ext cx="2870200" cy="172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124499"/>
              </a:lnSpc>
              <a:buClr>
                <a:srgbClr val="FFFDF6"/>
              </a:buClr>
              <a:buFont typeface="Arial"/>
              <a:buChar char="●"/>
            </a:pPr>
            <a:r>
              <a:rPr lang="ko-KR" altLang="en-US" sz="3200" b="0" i="0" u="none" strike="noStrike" spc="-100">
                <a:solidFill>
                  <a:srgbClr val="FFFDF6"/>
                </a:solidFill>
                <a:ea typeface="Hallym Gothic Regular"/>
              </a:rPr>
              <a:t>최종 </a:t>
            </a:r>
            <a:r>
              <a:rPr lang="en-US" altLang="ko-KR" sz="3200" spc="-100">
                <a:solidFill>
                  <a:srgbClr val="FFFDF6"/>
                </a:solidFill>
                <a:ea typeface="Hallym Gothic Regular"/>
              </a:rPr>
              <a:t>D</a:t>
            </a:r>
            <a:r>
              <a:rPr lang="en-US" altLang="ko-KR" sz="3200" b="0" i="0" u="none" strike="noStrike" spc="-100">
                <a:solidFill>
                  <a:srgbClr val="FFFDF6"/>
                </a:solidFill>
                <a:ea typeface="Hallym Gothic Regular"/>
              </a:rPr>
              <a:t>emo</a:t>
            </a:r>
            <a:r>
              <a:rPr lang="ko-KR" altLang="en-US" sz="3200" b="0" i="0" u="none" strike="noStrike" spc="-100">
                <a:solidFill>
                  <a:srgbClr val="FFFDF6"/>
                </a:solidFill>
                <a:ea typeface="Hallym Gothic Regular"/>
              </a:rPr>
              <a:t> 및 테스트</a:t>
            </a:r>
            <a:endParaRPr lang="en-US" sz="3200" b="0" i="0" u="none" strike="noStrike" spc="-100">
              <a:solidFill>
                <a:srgbClr val="FFFDF6"/>
              </a:solidFill>
              <a:latin typeface="Hallym Gothic Regular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829800" y="4876800"/>
            <a:ext cx="2870200" cy="172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124499"/>
              </a:lnSpc>
              <a:buClr>
                <a:srgbClr val="FFFDF6"/>
              </a:buClr>
              <a:buFont typeface="Arial"/>
              <a:buChar char="●"/>
            </a:pPr>
            <a:r>
              <a:rPr lang="ko-KR" altLang="en-US" sz="3200" b="0" i="0" u="none" strike="noStrike" spc="-100">
                <a:solidFill>
                  <a:srgbClr val="FFFDF6"/>
                </a:solidFill>
                <a:ea typeface="Hallym Gothic Regular"/>
              </a:rPr>
              <a:t>모델 구성 및 트레이닝</a:t>
            </a:r>
            <a:endParaRPr lang="en-US" sz="3200" b="0" i="0" u="none" strike="noStrike" spc="-100">
              <a:solidFill>
                <a:srgbClr val="FFFDF6"/>
              </a:solidFill>
              <a:latin typeface="Hallym Gothic Regular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19200" y="647700"/>
            <a:ext cx="88646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5500" spc="-200" err="1">
                <a:solidFill>
                  <a:srgbClr val="002841"/>
                </a:solidFill>
                <a:ea typeface="Hallym Gothic Bold"/>
              </a:rPr>
              <a:t>주차별</a:t>
            </a:r>
            <a:r>
              <a:rPr lang="ko-KR" altLang="en-US" sz="5500" spc="-200">
                <a:solidFill>
                  <a:srgbClr val="002841"/>
                </a:solidFill>
                <a:ea typeface="Hallym Gothic Bold"/>
              </a:rPr>
              <a:t> 계획</a:t>
            </a:r>
            <a:endParaRPr lang="ko-KR" sz="5500" b="0" i="0" u="none" strike="noStrike" spc="-200">
              <a:solidFill>
                <a:srgbClr val="002841"/>
              </a:solidFill>
              <a:ea typeface="Hallym Gothic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219200" y="2781300"/>
            <a:ext cx="1231900" cy="889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5000" b="0" i="0" u="none" strike="noStrike" spc="-300">
                <a:solidFill>
                  <a:srgbClr val="002841">
                    <a:alpha val="63922"/>
                  </a:srgbClr>
                </a:solidFill>
                <a:latin typeface="Hallym Gothic Bold"/>
              </a:rPr>
              <a:t>01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219700" y="2781300"/>
            <a:ext cx="1231900" cy="889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5000" b="0" i="0" u="none" strike="noStrike" spc="-300">
                <a:solidFill>
                  <a:srgbClr val="002841">
                    <a:alpha val="76078"/>
                  </a:srgbClr>
                </a:solidFill>
                <a:latin typeface="Hallym Gothic Bold"/>
              </a:rPr>
              <a:t>02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207500" y="2781300"/>
            <a:ext cx="1219200" cy="889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5000" b="0" i="0" u="none" strike="noStrike" spc="-300">
                <a:solidFill>
                  <a:srgbClr val="002841">
                    <a:alpha val="87843"/>
                  </a:srgbClr>
                </a:solidFill>
                <a:latin typeface="Hallym Gothic Bold"/>
              </a:rPr>
              <a:t>03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195300" y="2781300"/>
            <a:ext cx="1219200" cy="889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5000" b="0" i="0" u="none" strike="noStrike" spc="-300">
                <a:solidFill>
                  <a:srgbClr val="002841"/>
                </a:solidFill>
                <a:latin typeface="Hallym Gothic Bold"/>
              </a:rPr>
              <a:t>04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829300" y="4876800"/>
            <a:ext cx="2870200" cy="172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indent="-342900">
              <a:lnSpc>
                <a:spcPct val="124499"/>
              </a:lnSpc>
              <a:buClr>
                <a:srgbClr val="FFFDF6"/>
              </a:buClr>
              <a:buFont typeface="Arial"/>
              <a:buChar char="●"/>
            </a:pPr>
            <a:r>
              <a:rPr lang="ko-KR" altLang="en-US" sz="3200" spc="-100">
                <a:solidFill>
                  <a:srgbClr val="FFFDF6"/>
                </a:solidFill>
                <a:ea typeface="Hallym Gothic Regular"/>
              </a:rPr>
              <a:t>데이터 셋</a:t>
            </a:r>
            <a:r>
              <a:rPr lang="ko-KR" altLang="en-US" sz="3200" b="0" i="0" u="none" strike="noStrike" spc="-100">
                <a:solidFill>
                  <a:srgbClr val="FFFDF6"/>
                </a:solidFill>
                <a:ea typeface="Hallym Gothic Regular"/>
              </a:rPr>
              <a:t> 수집 및 </a:t>
            </a:r>
            <a:r>
              <a:rPr lang="ko-KR" altLang="en-US" sz="3200" b="0" i="0" u="none" strike="noStrike" spc="-100" err="1">
                <a:solidFill>
                  <a:srgbClr val="FFFDF6"/>
                </a:solidFill>
                <a:ea typeface="Hallym Gothic Regular"/>
              </a:rPr>
              <a:t>전처리</a:t>
            </a:r>
            <a:endParaRPr lang="en-US" sz="3200" b="0" i="0" u="none" strike="noStrike">
              <a:solidFill>
                <a:srgbClr val="FFFDF6"/>
              </a:solidFill>
              <a:latin typeface="Hallym Gothic Regular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854200" y="4876800"/>
            <a:ext cx="2870200" cy="172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124499"/>
              </a:lnSpc>
              <a:buClr>
                <a:srgbClr val="FFFDF6"/>
              </a:buClr>
              <a:buFont typeface="Arial"/>
              <a:buChar char="●"/>
            </a:pPr>
            <a:r>
              <a:rPr lang="ko-KR" altLang="en-US" sz="3200" b="0" i="0" u="none" strike="noStrike" spc="-100">
                <a:solidFill>
                  <a:srgbClr val="FFFDF6"/>
                </a:solidFill>
                <a:ea typeface="Hallym Gothic Regular"/>
              </a:rPr>
              <a:t>주제 선정</a:t>
            </a:r>
            <a:endParaRPr lang="en-US" sz="3200" b="0" i="0" u="none" strike="noStrike">
              <a:solidFill>
                <a:srgbClr val="FFFDF6"/>
              </a:solidFill>
              <a:latin typeface="Hallym Gothic Regula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8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929" y="190500"/>
            <a:ext cx="17602200" cy="9563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302264"/>
            <a:ext cx="14291253" cy="37073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685800" y="468563"/>
            <a:ext cx="6972300" cy="160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99600"/>
              </a:lnSpc>
            </a:pPr>
            <a:r>
              <a:rPr lang="ko-KR" altLang="en-US" sz="5500" spc="-200" dirty="0">
                <a:solidFill>
                  <a:srgbClr val="002841"/>
                </a:solidFill>
                <a:ea typeface="Hallym Gothic Bold"/>
              </a:rPr>
              <a:t>데이터셋</a:t>
            </a:r>
            <a:r>
              <a:rPr lang="ko-KR" altLang="en-US" sz="5500" b="0" i="0" u="none" strike="noStrike" spc="-200" dirty="0">
                <a:solidFill>
                  <a:srgbClr val="002841"/>
                </a:solidFill>
                <a:ea typeface="Hallym Gothic Bold"/>
              </a:rPr>
              <a:t> </a:t>
            </a:r>
            <a:endParaRPr lang="ko-KR" sz="5500" b="0" i="0" u="none" strike="noStrike" spc="-200" dirty="0">
              <a:solidFill>
                <a:srgbClr val="002841"/>
              </a:solidFill>
              <a:ea typeface="Hallym Gothic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609600" y="9791700"/>
            <a:ext cx="8130689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500" spc="-200">
                <a:solidFill>
                  <a:srgbClr val="002841"/>
                </a:solidFill>
                <a:latin typeface="Hallym Gothic Regular"/>
              </a:rPr>
              <a:t>출처 </a:t>
            </a:r>
            <a:r>
              <a:rPr lang="en-US" altLang="ko-KR" sz="2500" spc="-200">
                <a:solidFill>
                  <a:srgbClr val="002841"/>
                </a:solidFill>
                <a:latin typeface="Hallym Gothic Regular"/>
              </a:rPr>
              <a:t>: </a:t>
            </a:r>
            <a:r>
              <a:rPr lang="ko-KR" altLang="en-US" sz="2500" spc="-200">
                <a:solidFill>
                  <a:srgbClr val="002841"/>
                </a:solidFill>
                <a:latin typeface="Hallym Gothic Regular"/>
              </a:rPr>
              <a:t>기상청 기상자료 개방 포털</a:t>
            </a:r>
            <a:r>
              <a:rPr lang="en-US" altLang="ko-KR" sz="2500" spc="-200">
                <a:solidFill>
                  <a:srgbClr val="002841"/>
                </a:solidFill>
                <a:latin typeface="Hallym Gothic Regular"/>
              </a:rPr>
              <a:t>, </a:t>
            </a:r>
            <a:r>
              <a:rPr lang="ko-KR" altLang="en-US" sz="2500" spc="-200">
                <a:solidFill>
                  <a:srgbClr val="002841"/>
                </a:solidFill>
                <a:latin typeface="Hallym Gothic Regular"/>
              </a:rPr>
              <a:t>부산공동어시장</a:t>
            </a:r>
            <a:endParaRPr lang="en-US" sz="2500" b="0" i="0" u="none" strike="noStrike" spc="-200">
              <a:solidFill>
                <a:srgbClr val="002841"/>
              </a:solidFill>
              <a:latin typeface="Hallym Gothic Regular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85800" y="8025125"/>
            <a:ext cx="7445922" cy="130937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ko-KR" altLang="en-US" sz="2600" b="0" i="0" u="none" strike="noStrike" spc="-200">
                <a:solidFill>
                  <a:srgbClr val="002841"/>
                </a:solidFill>
                <a:ea typeface="Hallym Gothic Bold"/>
              </a:rPr>
              <a:t>어업에 영향을 미칠 수 있는 날씨데이터</a:t>
            </a:r>
            <a:endParaRPr lang="en-US" altLang="ko-KR" sz="2600" b="0" i="0" u="none" strike="noStrike" spc="-200">
              <a:solidFill>
                <a:srgbClr val="002841"/>
              </a:solidFill>
              <a:ea typeface="Hallym Gothic Bold"/>
            </a:endParaRPr>
          </a:p>
          <a:p>
            <a:pPr lvl="0" algn="l">
              <a:lnSpc>
                <a:spcPct val="124499"/>
              </a:lnSpc>
            </a:pPr>
            <a:r>
              <a:rPr lang="ko-KR" altLang="en-US" sz="2600" spc="-200">
                <a:solidFill>
                  <a:srgbClr val="002841"/>
                </a:solidFill>
                <a:latin typeface="Hallym Gothic Bold"/>
              </a:rPr>
              <a:t>기압</a:t>
            </a:r>
            <a:r>
              <a:rPr lang="en-US" altLang="ko-KR" sz="2600" spc="-200">
                <a:solidFill>
                  <a:srgbClr val="002841"/>
                </a:solidFill>
                <a:latin typeface="Hallym Gothic Bold"/>
              </a:rPr>
              <a:t>, </a:t>
            </a:r>
            <a:r>
              <a:rPr lang="ko-KR" altLang="en-US" sz="2600" spc="-200">
                <a:solidFill>
                  <a:srgbClr val="002841"/>
                </a:solidFill>
                <a:latin typeface="Hallym Gothic Bold"/>
              </a:rPr>
              <a:t>습도</a:t>
            </a:r>
            <a:r>
              <a:rPr lang="en-US" altLang="ko-KR" sz="2600" spc="-200">
                <a:solidFill>
                  <a:srgbClr val="002841"/>
                </a:solidFill>
                <a:latin typeface="Hallym Gothic Bold"/>
              </a:rPr>
              <a:t>, </a:t>
            </a:r>
            <a:r>
              <a:rPr lang="ko-KR" altLang="en-US" sz="2600" spc="-200">
                <a:solidFill>
                  <a:srgbClr val="002841"/>
                </a:solidFill>
                <a:latin typeface="Hallym Gothic Bold"/>
              </a:rPr>
              <a:t>기온</a:t>
            </a:r>
            <a:r>
              <a:rPr lang="en-US" altLang="ko-KR" sz="2600" spc="-200">
                <a:solidFill>
                  <a:srgbClr val="002841"/>
                </a:solidFill>
                <a:latin typeface="Hallym Gothic Bold"/>
              </a:rPr>
              <a:t>, </a:t>
            </a:r>
            <a:r>
              <a:rPr lang="ko-KR" altLang="en-US" sz="2600" spc="-200">
                <a:solidFill>
                  <a:srgbClr val="002841"/>
                </a:solidFill>
                <a:latin typeface="Hallym Gothic Bold"/>
              </a:rPr>
              <a:t>수온</a:t>
            </a:r>
            <a:r>
              <a:rPr lang="en-US" altLang="ko-KR" sz="2600" spc="-200">
                <a:solidFill>
                  <a:srgbClr val="002841"/>
                </a:solidFill>
                <a:latin typeface="Hallym Gothic Bold"/>
              </a:rPr>
              <a:t>, </a:t>
            </a:r>
            <a:r>
              <a:rPr lang="ko-KR" altLang="en-US" sz="2600" spc="-200">
                <a:solidFill>
                  <a:srgbClr val="002841"/>
                </a:solidFill>
                <a:latin typeface="Hallym Gothic Bold"/>
              </a:rPr>
              <a:t>파고 포함</a:t>
            </a:r>
            <a:endParaRPr lang="en-US" sz="2600" b="0" i="0" u="none" strike="noStrike" spc="-200">
              <a:solidFill>
                <a:srgbClr val="002841"/>
              </a:solidFill>
              <a:latin typeface="Hallym Gothic 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BABA47-2E88-4CA5-42EA-BDF5FB18B584}"/>
              </a:ext>
            </a:extLst>
          </p:cNvPr>
          <p:cNvSpPr txBox="1"/>
          <p:nvPr/>
        </p:nvSpPr>
        <p:spPr>
          <a:xfrm>
            <a:off x="8494126" y="7882434"/>
            <a:ext cx="9481003" cy="175686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ko-KR" altLang="en-US" sz="2600" b="0" i="0" u="none" strike="noStrike" spc="-200" dirty="0">
                <a:solidFill>
                  <a:srgbClr val="002841"/>
                </a:solidFill>
                <a:ea typeface="Hallym Gothic Bold"/>
              </a:rPr>
              <a:t>어종별 어획량과 단가 데이터</a:t>
            </a:r>
            <a:endParaRPr lang="en-US" altLang="ko-KR" sz="2600" b="0" i="0" u="none" strike="noStrike" spc="-200" dirty="0">
              <a:solidFill>
                <a:srgbClr val="002841"/>
              </a:solidFill>
              <a:ea typeface="Hallym Gothic Bold"/>
            </a:endParaRPr>
          </a:p>
          <a:p>
            <a:pPr lvl="0" algn="l">
              <a:lnSpc>
                <a:spcPct val="124499"/>
              </a:lnSpc>
            </a:pPr>
            <a:r>
              <a:rPr lang="ko-KR" altLang="en-US" sz="2600" b="0" i="0" u="none" strike="noStrike" spc="-200" dirty="0">
                <a:solidFill>
                  <a:srgbClr val="002841"/>
                </a:solidFill>
                <a:ea typeface="Hallym Gothic Bold"/>
              </a:rPr>
              <a:t>주  소비 자원인 갈치</a:t>
            </a:r>
            <a:r>
              <a:rPr lang="en-US" altLang="ko-KR" sz="2600" b="0" i="0" u="none" strike="noStrike" spc="-200" dirty="0">
                <a:solidFill>
                  <a:srgbClr val="002841"/>
                </a:solidFill>
                <a:ea typeface="Hallym Gothic Bold"/>
              </a:rPr>
              <a:t>(</a:t>
            </a:r>
            <a:r>
              <a:rPr lang="ko-KR" altLang="en-US" sz="2600" b="0" i="0" u="none" strike="noStrike" spc="-200" dirty="0">
                <a:solidFill>
                  <a:srgbClr val="002841"/>
                </a:solidFill>
                <a:ea typeface="Hallym Gothic Bold"/>
              </a:rPr>
              <a:t>상</a:t>
            </a:r>
            <a:r>
              <a:rPr lang="en-US" altLang="ko-KR" sz="2600" b="0" i="0" u="none" strike="noStrike" spc="-200" dirty="0">
                <a:solidFill>
                  <a:srgbClr val="002841"/>
                </a:solidFill>
                <a:ea typeface="Hallym Gothic Bold"/>
              </a:rPr>
              <a:t>/</a:t>
            </a:r>
            <a:r>
              <a:rPr lang="ko-KR" altLang="en-US" sz="2600" b="0" i="0" u="none" strike="noStrike" spc="-200" dirty="0">
                <a:solidFill>
                  <a:srgbClr val="002841"/>
                </a:solidFill>
                <a:ea typeface="Hallym Gothic Bold"/>
              </a:rPr>
              <a:t>중</a:t>
            </a:r>
            <a:r>
              <a:rPr lang="en-US" altLang="ko-KR" sz="2600" b="0" i="0" u="none" strike="noStrike" spc="-200" dirty="0">
                <a:solidFill>
                  <a:srgbClr val="002841"/>
                </a:solidFill>
                <a:ea typeface="Hallym Gothic Bold"/>
              </a:rPr>
              <a:t>/</a:t>
            </a:r>
            <a:r>
              <a:rPr lang="ko-KR" altLang="en-US" sz="2600" b="0" i="0" u="none" strike="noStrike" spc="-200" dirty="0">
                <a:solidFill>
                  <a:srgbClr val="002841"/>
                </a:solidFill>
                <a:ea typeface="Hallym Gothic Bold"/>
              </a:rPr>
              <a:t>하</a:t>
            </a:r>
            <a:r>
              <a:rPr lang="en-US" altLang="ko-KR" sz="2600" b="0" i="0" u="none" strike="noStrike" spc="-200" dirty="0">
                <a:solidFill>
                  <a:srgbClr val="002841"/>
                </a:solidFill>
                <a:ea typeface="Hallym Gothic Bold"/>
              </a:rPr>
              <a:t>),  </a:t>
            </a:r>
            <a:r>
              <a:rPr lang="ko-KR" altLang="en-US" sz="2600" b="0" i="0" u="none" strike="noStrike" spc="-200" dirty="0">
                <a:solidFill>
                  <a:srgbClr val="002841"/>
                </a:solidFill>
                <a:ea typeface="Hallym Gothic Bold"/>
              </a:rPr>
              <a:t>고등어</a:t>
            </a:r>
            <a:r>
              <a:rPr lang="en-US" altLang="ko-KR" sz="2600" b="0" i="0" u="none" strike="noStrike" spc="-200" dirty="0">
                <a:solidFill>
                  <a:srgbClr val="002841"/>
                </a:solidFill>
                <a:ea typeface="Hallym Gothic Bold"/>
              </a:rPr>
              <a:t>(</a:t>
            </a:r>
            <a:r>
              <a:rPr lang="ko-KR" altLang="en-US" sz="2600" b="0" i="0" u="none" strike="noStrike" spc="-200" dirty="0">
                <a:solidFill>
                  <a:srgbClr val="002841"/>
                </a:solidFill>
                <a:ea typeface="Hallym Gothic Bold"/>
              </a:rPr>
              <a:t>상</a:t>
            </a:r>
            <a:r>
              <a:rPr lang="en-US" altLang="ko-KR" sz="2600" b="0" i="0" u="none" strike="noStrike" spc="-200" dirty="0">
                <a:solidFill>
                  <a:srgbClr val="002841"/>
                </a:solidFill>
                <a:ea typeface="Hallym Gothic Bold"/>
              </a:rPr>
              <a:t>/</a:t>
            </a:r>
            <a:r>
              <a:rPr lang="ko-KR" altLang="en-US" sz="2600" b="0" i="0" u="none" strike="noStrike" spc="-200" dirty="0">
                <a:solidFill>
                  <a:srgbClr val="002841"/>
                </a:solidFill>
                <a:ea typeface="Hallym Gothic Bold"/>
              </a:rPr>
              <a:t>중</a:t>
            </a:r>
            <a:r>
              <a:rPr lang="en-US" altLang="ko-KR" sz="2600" b="0" i="0" u="none" strike="noStrike" spc="-200" dirty="0">
                <a:solidFill>
                  <a:srgbClr val="002841"/>
                </a:solidFill>
                <a:ea typeface="Hallym Gothic Bold"/>
              </a:rPr>
              <a:t>/</a:t>
            </a:r>
            <a:r>
              <a:rPr lang="ko-KR" altLang="en-US" sz="2600" b="0" i="0" u="none" strike="noStrike" spc="-200" dirty="0">
                <a:solidFill>
                  <a:srgbClr val="002841"/>
                </a:solidFill>
                <a:ea typeface="Hallym Gothic Bold"/>
              </a:rPr>
              <a:t>하</a:t>
            </a:r>
            <a:r>
              <a:rPr lang="en-US" altLang="ko-KR" sz="2600" b="0" i="0" u="none" strike="noStrike" spc="-200" dirty="0">
                <a:solidFill>
                  <a:srgbClr val="002841"/>
                </a:solidFill>
                <a:ea typeface="Hallym Gothic Bold"/>
              </a:rPr>
              <a:t>),  </a:t>
            </a:r>
            <a:r>
              <a:rPr lang="ko-KR" altLang="en-US" sz="2600" b="0" i="0" u="none" strike="noStrike" spc="-200" dirty="0" err="1">
                <a:solidFill>
                  <a:srgbClr val="002841"/>
                </a:solidFill>
                <a:ea typeface="Hallym Gothic Bold"/>
              </a:rPr>
              <a:t>갈고등어</a:t>
            </a:r>
            <a:r>
              <a:rPr lang="en-US" altLang="ko-KR" sz="2600" b="0" i="0" u="none" strike="noStrike" spc="-200" dirty="0">
                <a:solidFill>
                  <a:srgbClr val="002841"/>
                </a:solidFill>
                <a:ea typeface="Hallym Gothic Bold"/>
              </a:rPr>
              <a:t>, </a:t>
            </a:r>
            <a:r>
              <a:rPr lang="ko-KR" altLang="en-US" sz="2600" b="0" i="0" u="none" strike="noStrike" spc="-200" dirty="0">
                <a:solidFill>
                  <a:srgbClr val="002841"/>
                </a:solidFill>
                <a:ea typeface="Hallym Gothic Bold"/>
              </a:rPr>
              <a:t>갑오징어</a:t>
            </a:r>
            <a:r>
              <a:rPr lang="en-US" altLang="ko-KR" sz="2600" b="0" i="0" u="none" strike="noStrike" spc="-200" dirty="0">
                <a:solidFill>
                  <a:srgbClr val="002841"/>
                </a:solidFill>
                <a:ea typeface="Hallym Gothic Bold"/>
              </a:rPr>
              <a:t>/</a:t>
            </a:r>
            <a:r>
              <a:rPr lang="ko-KR" altLang="en-US" sz="2600" b="0" i="0" u="none" strike="noStrike" spc="-200" dirty="0">
                <a:solidFill>
                  <a:srgbClr val="002841"/>
                </a:solidFill>
                <a:ea typeface="Hallym Gothic Bold"/>
              </a:rPr>
              <a:t>오징어 포함</a:t>
            </a:r>
            <a:endParaRPr lang="en-US" altLang="ko-KR" sz="2600" b="0" i="0" u="none" strike="noStrike" spc="-200" dirty="0">
              <a:solidFill>
                <a:srgbClr val="002841"/>
              </a:solidFill>
              <a:ea typeface="Hallym Gothic Bold"/>
            </a:endParaRPr>
          </a:p>
          <a:p>
            <a:pPr lvl="0" algn="l">
              <a:lnSpc>
                <a:spcPct val="124499"/>
              </a:lnSpc>
            </a:pPr>
            <a:r>
              <a:rPr lang="ko-KR" altLang="en-US" sz="2600" spc="-200" dirty="0">
                <a:solidFill>
                  <a:srgbClr val="002841"/>
                </a:solidFill>
                <a:latin typeface="Hallym Gothic Bold"/>
              </a:rPr>
              <a:t>어종별 </a:t>
            </a:r>
            <a:r>
              <a:rPr lang="en-US" sz="2600" spc="-200" dirty="0">
                <a:solidFill>
                  <a:srgbClr val="002841"/>
                </a:solidFill>
                <a:latin typeface="Hallym Gothic Bold"/>
              </a:rPr>
              <a:t>kg </a:t>
            </a:r>
            <a:r>
              <a:rPr lang="ko-KR" altLang="en-US" sz="2600" spc="-200" dirty="0">
                <a:solidFill>
                  <a:srgbClr val="002841"/>
                </a:solidFill>
                <a:latin typeface="Hallym Gothic Bold"/>
              </a:rPr>
              <a:t>으로 단가 계산</a:t>
            </a:r>
            <a:endParaRPr lang="en-US" sz="2600" b="0" i="0" u="none" strike="noStrike" spc="-200" dirty="0">
              <a:solidFill>
                <a:srgbClr val="002841"/>
              </a:solidFill>
              <a:latin typeface="Hallym Gothic Bold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480CFB2-6310-33F6-C68F-37ED4036C2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122" y="2793640"/>
            <a:ext cx="7467600" cy="495895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78E1FC6-50D2-35BD-85C6-DFF362F99A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3601" y="2749714"/>
            <a:ext cx="9118599" cy="5052027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984B1EA3-DA08-733E-672C-3C6387E74BEF}"/>
              </a:ext>
            </a:extLst>
          </p:cNvPr>
          <p:cNvSpPr/>
          <p:nvPr/>
        </p:nvSpPr>
        <p:spPr>
          <a:xfrm>
            <a:off x="12617251" y="3699610"/>
            <a:ext cx="1219200" cy="4110890"/>
          </a:xfrm>
          <a:prstGeom prst="rect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accent1">
                    <a:shade val="15000"/>
                  </a:schemeClr>
                </a:solidFill>
              </a:ln>
              <a:noFill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5E53844-C883-CD3A-572A-138ABAC8401C}"/>
              </a:ext>
            </a:extLst>
          </p:cNvPr>
          <p:cNvSpPr/>
          <p:nvPr/>
        </p:nvSpPr>
        <p:spPr>
          <a:xfrm>
            <a:off x="15316200" y="3699610"/>
            <a:ext cx="1219200" cy="4110890"/>
          </a:xfrm>
          <a:prstGeom prst="rect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accent1">
                    <a:shade val="15000"/>
                  </a:schemeClr>
                </a:solidFill>
              </a:ln>
              <a:noFill/>
            </a:endParaRPr>
          </a:p>
        </p:txBody>
      </p:sp>
      <p:sp>
        <p:nvSpPr>
          <p:cNvPr id="3" name="TextBox 9">
            <a:extLst>
              <a:ext uri="{FF2B5EF4-FFF2-40B4-BE49-F238E27FC236}">
                <a16:creationId xmlns:a16="http://schemas.microsoft.com/office/drawing/2014/main" id="{C959232F-4C5F-4CDF-3059-1D2EB8EAD992}"/>
              </a:ext>
            </a:extLst>
          </p:cNvPr>
          <p:cNvSpPr txBox="1"/>
          <p:nvPr/>
        </p:nvSpPr>
        <p:spPr>
          <a:xfrm>
            <a:off x="903162" y="1606957"/>
            <a:ext cx="14135617" cy="70973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124499"/>
              </a:lnSpc>
            </a:pPr>
            <a:r>
              <a:rPr lang="en-US" altLang="ko-KR" sz="2600" b="1" i="0" u="none" strike="noStrike" spc="-200">
                <a:solidFill>
                  <a:srgbClr val="002841"/>
                </a:solidFill>
                <a:ea typeface="Hallym Gothic Bold"/>
              </a:rPr>
              <a:t>2021-12-01 ~ 2024-12-01</a:t>
            </a:r>
            <a:r>
              <a:rPr lang="ko-KR" altLang="en-US" sz="2600" b="1" spc="-200">
                <a:solidFill>
                  <a:srgbClr val="002841"/>
                </a:solidFill>
                <a:ea typeface="Hallym Gothic Bold"/>
              </a:rPr>
              <a:t> 일자별 총 </a:t>
            </a:r>
            <a:r>
              <a:rPr lang="en-US" altLang="ko-KR" sz="2600" b="1" spc="-200">
                <a:solidFill>
                  <a:srgbClr val="002841"/>
                </a:solidFill>
                <a:ea typeface="Hallym Gothic Bold"/>
              </a:rPr>
              <a:t>3</a:t>
            </a:r>
            <a:r>
              <a:rPr lang="ko-KR" altLang="en-US" sz="2600" b="1" spc="-200">
                <a:solidFill>
                  <a:srgbClr val="002841"/>
                </a:solidFill>
                <a:ea typeface="Hallym Gothic Bold"/>
              </a:rPr>
              <a:t>년의 데이터 셋 구축</a:t>
            </a:r>
            <a:endParaRPr lang="en-US" altLang="ko-KR" sz="2600" b="1" i="0" u="none" strike="noStrike" spc="-200">
              <a:solidFill>
                <a:srgbClr val="002841"/>
              </a:solidFill>
              <a:latin typeface="Hallym Gothic Bold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278883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8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929" y="190500"/>
            <a:ext cx="17602200" cy="9563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3355" y="1305042"/>
            <a:ext cx="12369845" cy="32196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640080" y="468563"/>
            <a:ext cx="6972300" cy="160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99600"/>
              </a:lnSpc>
            </a:pPr>
            <a:r>
              <a:rPr lang="ko-KR" altLang="en-US" sz="5500" spc="-200" dirty="0">
                <a:solidFill>
                  <a:srgbClr val="002841"/>
                </a:solidFill>
                <a:ea typeface="Hallym Gothic Bold"/>
              </a:rPr>
              <a:t>데이터셋</a:t>
            </a:r>
            <a:r>
              <a:rPr lang="ko-KR" altLang="en-US" sz="5500" b="0" i="0" u="none" strike="noStrike" spc="-200" dirty="0">
                <a:solidFill>
                  <a:srgbClr val="002841"/>
                </a:solidFill>
                <a:ea typeface="Hallym Gothic Bold"/>
              </a:rPr>
              <a:t> </a:t>
            </a:r>
            <a:r>
              <a:rPr lang="ko-KR" altLang="en-US" sz="5500" spc="-200" dirty="0" err="1">
                <a:solidFill>
                  <a:srgbClr val="002841"/>
                </a:solidFill>
                <a:ea typeface="Hallym Gothic Bold"/>
              </a:rPr>
              <a:t>전처리</a:t>
            </a:r>
            <a:endParaRPr lang="ko-KR" sz="5500" b="0" i="0" u="none" strike="noStrike" spc="-200" dirty="0">
              <a:solidFill>
                <a:srgbClr val="002841"/>
              </a:solidFill>
              <a:ea typeface="Hallym Gothic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609600" y="9791700"/>
            <a:ext cx="8130689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500" spc="-200">
                <a:solidFill>
                  <a:srgbClr val="002841"/>
                </a:solidFill>
                <a:latin typeface="Hallym Gothic Regular"/>
              </a:rPr>
              <a:t>출처 </a:t>
            </a:r>
            <a:r>
              <a:rPr lang="en-US" altLang="ko-KR" sz="2500" spc="-200">
                <a:solidFill>
                  <a:srgbClr val="002841"/>
                </a:solidFill>
                <a:latin typeface="Hallym Gothic Regular"/>
              </a:rPr>
              <a:t>: </a:t>
            </a:r>
            <a:r>
              <a:rPr lang="ko-KR" altLang="en-US" sz="2500" spc="-200">
                <a:solidFill>
                  <a:srgbClr val="002841"/>
                </a:solidFill>
                <a:latin typeface="Hallym Gothic Regular"/>
              </a:rPr>
              <a:t>기상청 기상자료 개방 포털</a:t>
            </a:r>
            <a:r>
              <a:rPr lang="en-US" altLang="ko-KR" sz="2500" spc="-200">
                <a:solidFill>
                  <a:srgbClr val="002841"/>
                </a:solidFill>
                <a:latin typeface="Hallym Gothic Regular"/>
              </a:rPr>
              <a:t>, </a:t>
            </a:r>
            <a:r>
              <a:rPr lang="ko-KR" altLang="en-US" sz="2500" spc="-200">
                <a:solidFill>
                  <a:srgbClr val="002841"/>
                </a:solidFill>
                <a:latin typeface="Hallym Gothic Regular"/>
              </a:rPr>
              <a:t>부산공동어시장</a:t>
            </a:r>
            <a:endParaRPr lang="en-US" sz="2500" b="0" i="0" u="none" strike="noStrike" spc="-200">
              <a:solidFill>
                <a:srgbClr val="002841"/>
              </a:solidFill>
              <a:latin typeface="Hallym Gothic Regular"/>
            </a:endParaRPr>
          </a:p>
        </p:txBody>
      </p:sp>
      <p:sp>
        <p:nvSpPr>
          <p:cNvPr id="3" name="TextBox 9">
            <a:extLst>
              <a:ext uri="{FF2B5EF4-FFF2-40B4-BE49-F238E27FC236}">
                <a16:creationId xmlns:a16="http://schemas.microsoft.com/office/drawing/2014/main" id="{C959232F-4C5F-4CDF-3059-1D2EB8EAD992}"/>
              </a:ext>
            </a:extLst>
          </p:cNvPr>
          <p:cNvSpPr txBox="1"/>
          <p:nvPr/>
        </p:nvSpPr>
        <p:spPr>
          <a:xfrm>
            <a:off x="903162" y="1667917"/>
            <a:ext cx="14135617" cy="70973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124499"/>
              </a:lnSpc>
            </a:pPr>
            <a:r>
              <a:rPr lang="en-US" altLang="ko-KR" sz="2600" b="1" spc="-200" err="1">
                <a:solidFill>
                  <a:srgbClr val="002841"/>
                </a:solidFill>
                <a:ea typeface="맑은 고딕"/>
                <a:cs typeface="Calibri"/>
              </a:rPr>
              <a:t>날씨</a:t>
            </a:r>
            <a:r>
              <a:rPr lang="en-US" altLang="ko-KR" sz="2600" b="1" spc="-200">
                <a:solidFill>
                  <a:srgbClr val="002841"/>
                </a:solidFill>
                <a:ea typeface="맑은 고딕"/>
                <a:cs typeface="Calibri"/>
              </a:rPr>
              <a:t> </a:t>
            </a:r>
            <a:r>
              <a:rPr lang="en-US" altLang="ko-KR" sz="2600" b="1" spc="-200" err="1">
                <a:solidFill>
                  <a:srgbClr val="002841"/>
                </a:solidFill>
                <a:ea typeface="맑은 고딕"/>
                <a:cs typeface="Calibri"/>
              </a:rPr>
              <a:t>데이터</a:t>
            </a:r>
            <a:r>
              <a:rPr lang="en-US" altLang="ko-KR" sz="2600" b="1" spc="-200">
                <a:solidFill>
                  <a:srgbClr val="002841"/>
                </a:solidFill>
                <a:ea typeface="맑은 고딕"/>
                <a:cs typeface="Calibri"/>
              </a:rPr>
              <a:t>, </a:t>
            </a:r>
            <a:r>
              <a:rPr lang="en-US" altLang="ko-KR" sz="2600" b="1" spc="-200" err="1">
                <a:solidFill>
                  <a:srgbClr val="002841"/>
                </a:solidFill>
                <a:ea typeface="맑은 고딕"/>
                <a:cs typeface="Calibri"/>
              </a:rPr>
              <a:t>어획량</a:t>
            </a:r>
            <a:r>
              <a:rPr lang="en-US" altLang="ko-KR" sz="2600" b="1" spc="-200">
                <a:solidFill>
                  <a:srgbClr val="002841"/>
                </a:solidFill>
                <a:ea typeface="맑은 고딕"/>
                <a:cs typeface="Calibri"/>
              </a:rPr>
              <a:t> </a:t>
            </a:r>
            <a:r>
              <a:rPr lang="en-US" altLang="ko-KR" sz="2600" b="1" spc="-200" err="1">
                <a:solidFill>
                  <a:srgbClr val="002841"/>
                </a:solidFill>
                <a:ea typeface="맑은 고딕"/>
                <a:cs typeface="Calibri"/>
              </a:rPr>
              <a:t>데이터</a:t>
            </a:r>
            <a:r>
              <a:rPr lang="en-US" altLang="ko-KR" sz="2600" b="1" spc="-200">
                <a:solidFill>
                  <a:srgbClr val="002841"/>
                </a:solidFill>
                <a:ea typeface="맑은 고딕"/>
                <a:cs typeface="Calibri"/>
              </a:rPr>
              <a:t> 한 </a:t>
            </a:r>
            <a:r>
              <a:rPr lang="en-US" altLang="ko-KR" sz="2600" b="1" spc="-200" err="1">
                <a:solidFill>
                  <a:srgbClr val="002841"/>
                </a:solidFill>
                <a:ea typeface="맑은 고딕"/>
                <a:cs typeface="Calibri"/>
              </a:rPr>
              <a:t>개의</a:t>
            </a:r>
            <a:r>
              <a:rPr lang="en-US" altLang="ko-KR" sz="2600" b="1" spc="-200">
                <a:solidFill>
                  <a:srgbClr val="002841"/>
                </a:solidFill>
                <a:ea typeface="맑은 고딕"/>
                <a:cs typeface="Calibri"/>
              </a:rPr>
              <a:t> </a:t>
            </a:r>
            <a:r>
              <a:rPr lang="en-US" altLang="ko-KR" sz="2600" b="1" spc="-200" err="1">
                <a:solidFill>
                  <a:srgbClr val="002841"/>
                </a:solidFill>
                <a:ea typeface="맑은 고딕"/>
                <a:cs typeface="Calibri"/>
              </a:rPr>
              <a:t>파일로</a:t>
            </a:r>
            <a:r>
              <a:rPr lang="en-US" altLang="ko-KR" sz="2600" b="1" spc="-200">
                <a:solidFill>
                  <a:srgbClr val="002841"/>
                </a:solidFill>
                <a:ea typeface="맑은 고딕"/>
                <a:cs typeface="Calibri"/>
              </a:rPr>
              <a:t> </a:t>
            </a:r>
            <a:r>
              <a:rPr lang="en-US" altLang="ko-KR" sz="2600" b="1" spc="-200" err="1">
                <a:solidFill>
                  <a:srgbClr val="FF0000"/>
                </a:solidFill>
                <a:ea typeface="맑은 고딕"/>
                <a:cs typeface="Calibri"/>
              </a:rPr>
              <a:t>통합</a:t>
            </a:r>
            <a:r>
              <a:rPr lang="en-US" altLang="ko-KR" sz="2600" b="1" spc="-200">
                <a:solidFill>
                  <a:srgbClr val="002841"/>
                </a:solidFill>
                <a:ea typeface="맑은 고딕"/>
                <a:cs typeface="Calibri"/>
              </a:rPr>
              <a:t>,  </a:t>
            </a:r>
            <a:r>
              <a:rPr lang="en-US" altLang="ko-KR" sz="2600" b="1" spc="-200" err="1">
                <a:solidFill>
                  <a:srgbClr val="002841"/>
                </a:solidFill>
                <a:ea typeface="맑은 고딕"/>
                <a:cs typeface="Calibri"/>
              </a:rPr>
              <a:t>어획이</a:t>
            </a:r>
            <a:r>
              <a:rPr lang="en-US" altLang="ko-KR" sz="2600" b="1" spc="-200">
                <a:solidFill>
                  <a:srgbClr val="002841"/>
                </a:solidFill>
                <a:ea typeface="맑은 고딕"/>
                <a:cs typeface="Calibri"/>
              </a:rPr>
              <a:t> </a:t>
            </a:r>
            <a:r>
              <a:rPr lang="en-US" altLang="ko-KR" sz="2600" b="1" spc="-200" err="1">
                <a:solidFill>
                  <a:srgbClr val="002841"/>
                </a:solidFill>
                <a:ea typeface="맑은 고딕"/>
                <a:cs typeface="Calibri"/>
              </a:rPr>
              <a:t>없는</a:t>
            </a:r>
            <a:r>
              <a:rPr lang="en-US" altLang="ko-KR" sz="2600" b="1" spc="-200">
                <a:solidFill>
                  <a:srgbClr val="002841"/>
                </a:solidFill>
                <a:ea typeface="맑은 고딕"/>
                <a:cs typeface="Calibri"/>
              </a:rPr>
              <a:t> </a:t>
            </a:r>
            <a:r>
              <a:rPr lang="en-US" altLang="ko-KR" sz="2600" b="1" spc="-200" err="1">
                <a:solidFill>
                  <a:srgbClr val="002841"/>
                </a:solidFill>
                <a:ea typeface="맑은 고딕"/>
                <a:cs typeface="Calibri"/>
              </a:rPr>
              <a:t>휴무일의</a:t>
            </a:r>
            <a:r>
              <a:rPr lang="en-US" altLang="ko-KR" sz="2600" b="1" spc="-200">
                <a:solidFill>
                  <a:srgbClr val="002841"/>
                </a:solidFill>
                <a:ea typeface="맑은 고딕"/>
                <a:cs typeface="Calibri"/>
              </a:rPr>
              <a:t> </a:t>
            </a:r>
            <a:r>
              <a:rPr lang="en-US" altLang="ko-KR" sz="2600" b="1" spc="-200" err="1">
                <a:solidFill>
                  <a:srgbClr val="002841"/>
                </a:solidFill>
                <a:ea typeface="맑은 고딕"/>
                <a:cs typeface="Calibri"/>
              </a:rPr>
              <a:t>데이터</a:t>
            </a:r>
            <a:r>
              <a:rPr lang="en-US" altLang="ko-KR" sz="2600" b="1" spc="-200">
                <a:solidFill>
                  <a:srgbClr val="002841"/>
                </a:solidFill>
                <a:ea typeface="맑은 고딕"/>
                <a:cs typeface="Calibri"/>
              </a:rPr>
              <a:t> </a:t>
            </a:r>
            <a:r>
              <a:rPr lang="en-US" altLang="ko-KR" sz="2600" b="1" spc="-200">
                <a:solidFill>
                  <a:srgbClr val="FF0000"/>
                </a:solidFill>
                <a:ea typeface="맑은 고딕"/>
                <a:cs typeface="Calibri"/>
              </a:rPr>
              <a:t>제외</a:t>
            </a:r>
          </a:p>
        </p:txBody>
      </p:sp>
      <p:pic>
        <p:nvPicPr>
          <p:cNvPr id="4" name="그림 3" descr="텍스트, 번호, 평행, 스크린샷이(가) 표시된 사진&#10;&#10;자동 생성된 설명">
            <a:extLst>
              <a:ext uri="{FF2B5EF4-FFF2-40B4-BE49-F238E27FC236}">
                <a16:creationId xmlns:a16="http://schemas.microsoft.com/office/drawing/2014/main" id="{19084333-57F4-BA5E-F3B7-BF98AB3813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8253" y="2441258"/>
            <a:ext cx="15847695" cy="6608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630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8C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CAFCD0-8DF2-1ED1-0C08-AD8D1EC47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09BFAC10-882E-C8B7-961D-6A14A16B5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929" y="259278"/>
            <a:ext cx="17602200" cy="95631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09F2ED13-782F-48CC-2E7C-DD9CC1DCF4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1254166"/>
            <a:ext cx="12809589" cy="3323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8DACF811-B9B2-557A-B615-A50CC200D545}"/>
              </a:ext>
            </a:extLst>
          </p:cNvPr>
          <p:cNvSpPr txBox="1"/>
          <p:nvPr/>
        </p:nvSpPr>
        <p:spPr>
          <a:xfrm>
            <a:off x="685800" y="468563"/>
            <a:ext cx="6972300" cy="160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5500" spc="-200">
                <a:solidFill>
                  <a:srgbClr val="002841"/>
                </a:solidFill>
                <a:ea typeface="Hallym Gothic Bold"/>
              </a:rPr>
              <a:t>기본 </a:t>
            </a:r>
            <a:r>
              <a:rPr lang="ko-KR" altLang="en-US" sz="5500" b="0" i="0" u="none" strike="noStrike" spc="-200">
                <a:solidFill>
                  <a:srgbClr val="002841"/>
                </a:solidFill>
                <a:ea typeface="Hallym Gothic Bold"/>
              </a:rPr>
              <a:t>모델 구성</a:t>
            </a:r>
            <a:endParaRPr lang="ko-KR" sz="5500" b="0" i="0" u="none" strike="noStrike" spc="-200">
              <a:solidFill>
                <a:srgbClr val="002841"/>
              </a:solidFill>
              <a:ea typeface="Hallym Gothic Bol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6B021FA-7E78-F0C2-739D-600D428147F9}"/>
              </a:ext>
            </a:extLst>
          </p:cNvPr>
          <p:cNvSpPr txBox="1"/>
          <p:nvPr/>
        </p:nvSpPr>
        <p:spPr>
          <a:xfrm>
            <a:off x="11597640" y="2990336"/>
            <a:ext cx="6156960" cy="508356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4000" spc="-200" dirty="0">
                <a:solidFill>
                  <a:srgbClr val="002841"/>
                </a:solidFill>
                <a:latin typeface="Hallym Gothic Bold"/>
              </a:rPr>
              <a:t>Optimizer</a:t>
            </a:r>
            <a:r>
              <a:rPr lang="ko-KR" altLang="en-US" sz="4000" spc="-200" dirty="0">
                <a:solidFill>
                  <a:srgbClr val="002841"/>
                </a:solidFill>
                <a:latin typeface="Hallym Gothic Bold"/>
                <a:ea typeface="맑은 고딕"/>
              </a:rPr>
              <a:t> </a:t>
            </a:r>
            <a:r>
              <a:rPr lang="en-US" altLang="ko-KR" sz="4000" spc="-200" dirty="0">
                <a:solidFill>
                  <a:srgbClr val="002841"/>
                </a:solidFill>
                <a:latin typeface="Hallym Gothic Bold"/>
                <a:ea typeface="맑은 고딕"/>
              </a:rPr>
              <a:t>=</a:t>
            </a:r>
            <a:r>
              <a:rPr lang="ko-KR" altLang="en-US" sz="4000" spc="-200" dirty="0">
                <a:solidFill>
                  <a:srgbClr val="002841"/>
                </a:solidFill>
                <a:latin typeface="Hallym Gothic Bold"/>
                <a:ea typeface="맑은 고딕"/>
              </a:rPr>
              <a:t> </a:t>
            </a:r>
            <a:r>
              <a:rPr lang="en-US" altLang="ko-KR" sz="4000" spc="-200" dirty="0">
                <a:solidFill>
                  <a:srgbClr val="002841"/>
                </a:solidFill>
                <a:latin typeface="Hallym Gothic Bold"/>
                <a:ea typeface="맑은 고딕"/>
              </a:rPr>
              <a:t>Adam</a:t>
            </a:r>
          </a:p>
          <a:p>
            <a:pPr lvl="0" algn="l">
              <a:lnSpc>
                <a:spcPct val="124499"/>
              </a:lnSpc>
            </a:pPr>
            <a:r>
              <a:rPr lang="en-US" sz="4000" spc="-200" dirty="0" err="1">
                <a:solidFill>
                  <a:srgbClr val="002841"/>
                </a:solidFill>
                <a:latin typeface="Hallym Gothic Bold"/>
              </a:rPr>
              <a:t>Learning_rate</a:t>
            </a:r>
            <a:r>
              <a:rPr lang="en-US" sz="4000" spc="-200" dirty="0">
                <a:solidFill>
                  <a:srgbClr val="002841"/>
                </a:solidFill>
                <a:latin typeface="Hallym Gothic Bold"/>
              </a:rPr>
              <a:t> = 0.001</a:t>
            </a:r>
          </a:p>
          <a:p>
            <a:pPr lvl="0" algn="l">
              <a:lnSpc>
                <a:spcPct val="124499"/>
              </a:lnSpc>
            </a:pPr>
            <a:r>
              <a:rPr lang="ko-KR" altLang="en-US" sz="4000" spc="-200" dirty="0">
                <a:solidFill>
                  <a:srgbClr val="002841"/>
                </a:solidFill>
                <a:latin typeface="Hallym Gothic Bold"/>
                <a:ea typeface="맑은 고딕"/>
              </a:rPr>
              <a:t>손실함수 </a:t>
            </a:r>
            <a:r>
              <a:rPr lang="en-US" altLang="ko-KR" sz="4000" spc="-200" dirty="0">
                <a:solidFill>
                  <a:srgbClr val="002841"/>
                </a:solidFill>
                <a:latin typeface="Hallym Gothic Bold"/>
                <a:ea typeface="맑은 고딕"/>
              </a:rPr>
              <a:t>: MSE</a:t>
            </a:r>
          </a:p>
          <a:p>
            <a:pPr lvl="0" algn="l">
              <a:lnSpc>
                <a:spcPct val="124499"/>
              </a:lnSpc>
            </a:pPr>
            <a:r>
              <a:rPr lang="en-US" sz="4000" b="0" i="0" u="none" strike="noStrike" spc="-200" dirty="0">
                <a:solidFill>
                  <a:srgbClr val="002841"/>
                </a:solidFill>
                <a:latin typeface="Hallym Gothic Bold"/>
              </a:rPr>
              <a:t>Epochs = </a:t>
            </a:r>
            <a:r>
              <a:rPr lang="en-US" sz="4000" spc="-200" dirty="0">
                <a:solidFill>
                  <a:srgbClr val="002841"/>
                </a:solidFill>
                <a:latin typeface="Hallym Gothic Bold"/>
              </a:rPr>
              <a:t>100</a:t>
            </a:r>
            <a:endParaRPr lang="en-US" sz="4000" b="0" i="0" u="none" strike="noStrike" spc="-200" dirty="0">
              <a:solidFill>
                <a:srgbClr val="002841"/>
              </a:solidFill>
              <a:latin typeface="Hallym Gothic Bold"/>
            </a:endParaRPr>
          </a:p>
          <a:p>
            <a:pPr lvl="0" algn="l">
              <a:lnSpc>
                <a:spcPct val="124499"/>
              </a:lnSpc>
            </a:pPr>
            <a:r>
              <a:rPr lang="en-US" sz="4000" spc="-200" dirty="0" err="1">
                <a:solidFill>
                  <a:srgbClr val="002841"/>
                </a:solidFill>
                <a:latin typeface="Hallym Gothic Bold"/>
              </a:rPr>
              <a:t>Batch_size</a:t>
            </a:r>
            <a:r>
              <a:rPr lang="en-US" sz="4000" spc="-200" dirty="0">
                <a:solidFill>
                  <a:srgbClr val="002841"/>
                </a:solidFill>
                <a:latin typeface="Hallym Gothic Bold"/>
              </a:rPr>
              <a:t> = 32</a:t>
            </a:r>
          </a:p>
          <a:p>
            <a:pPr>
              <a:lnSpc>
                <a:spcPct val="124499"/>
              </a:lnSpc>
            </a:pPr>
            <a:r>
              <a:rPr lang="en-US" sz="4000" spc="-200" dirty="0">
                <a:solidFill>
                  <a:srgbClr val="002841"/>
                </a:solidFill>
                <a:latin typeface="Hallym Gothic Bold"/>
              </a:rPr>
              <a:t>Train : Val : Test = 6 : 3 : 1</a:t>
            </a:r>
          </a:p>
          <a:p>
            <a:pPr>
              <a:lnSpc>
                <a:spcPct val="124499"/>
              </a:lnSpc>
            </a:pPr>
            <a:r>
              <a:rPr lang="en-US" sz="4000" spc="-200" dirty="0">
                <a:solidFill>
                  <a:srgbClr val="002841"/>
                </a:solidFill>
                <a:latin typeface="Hallym Gothic Bold"/>
              </a:rPr>
              <a:t>                    540 : 232 : 90</a:t>
            </a:r>
          </a:p>
        </p:txBody>
      </p:sp>
      <p:pic>
        <p:nvPicPr>
          <p:cNvPr id="3" name="그림 2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4FE9A31D-49F8-A879-DB9A-FB6C37AFB1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250" y="3687907"/>
            <a:ext cx="10216515" cy="3413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120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8C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6EB68E-9506-2903-AB29-4CE4C2770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도표, 라인, 번호이(가) 표시된 사진&#10;&#10;자동 생성된 설명">
            <a:extLst>
              <a:ext uri="{FF2B5EF4-FFF2-40B4-BE49-F238E27FC236}">
                <a16:creationId xmlns:a16="http://schemas.microsoft.com/office/drawing/2014/main" id="{9F2BB2B3-2A80-15F6-7D18-1ECB52A70E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1045907"/>
            <a:ext cx="12094375" cy="8039451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3D8F3463-E7BE-84D2-3A7A-74F4C77129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929" y="259278"/>
            <a:ext cx="17602200" cy="9563100"/>
          </a:xfrm>
          <a:prstGeom prst="rect">
            <a:avLst/>
          </a:prstGeom>
        </p:spPr>
      </p:pic>
      <p:pic>
        <p:nvPicPr>
          <p:cNvPr id="3" name="Picture 5">
            <a:extLst>
              <a:ext uri="{FF2B5EF4-FFF2-40B4-BE49-F238E27FC236}">
                <a16:creationId xmlns:a16="http://schemas.microsoft.com/office/drawing/2014/main" id="{EA43D1C7-18D8-4FDA-1B2E-48C5B98E6C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3611" y="791500"/>
            <a:ext cx="12809589" cy="33230"/>
          </a:xfrm>
          <a:prstGeom prst="rect">
            <a:avLst/>
          </a:prstGeom>
        </p:spPr>
      </p:pic>
      <p:sp>
        <p:nvSpPr>
          <p:cNvPr id="4" name="TextBox 6">
            <a:extLst>
              <a:ext uri="{FF2B5EF4-FFF2-40B4-BE49-F238E27FC236}">
                <a16:creationId xmlns:a16="http://schemas.microsoft.com/office/drawing/2014/main" id="{B299FBAF-3466-3F3C-129C-9D123E30FA1C}"/>
              </a:ext>
            </a:extLst>
          </p:cNvPr>
          <p:cNvSpPr txBox="1"/>
          <p:nvPr/>
        </p:nvSpPr>
        <p:spPr>
          <a:xfrm>
            <a:off x="685800" y="38100"/>
            <a:ext cx="6972300" cy="160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99600"/>
              </a:lnSpc>
            </a:pPr>
            <a:r>
              <a:rPr lang="ko-KR" altLang="en-US" sz="5500" b="0" i="0" u="none" strike="noStrike" spc="-200">
                <a:solidFill>
                  <a:srgbClr val="002841"/>
                </a:solidFill>
                <a:ea typeface="Hallym Gothic Bold"/>
              </a:rPr>
              <a:t>트레이닝</a:t>
            </a:r>
            <a:endParaRPr lang="ko-KR" sz="5500" b="0" i="0" u="none" strike="noStrike" spc="-200">
              <a:solidFill>
                <a:srgbClr val="002841"/>
              </a:solidFill>
              <a:ea typeface="Hallym Gothic Bold"/>
            </a:endParaRP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FBE97805-B549-C369-C0F9-3355F10353C3}"/>
              </a:ext>
            </a:extLst>
          </p:cNvPr>
          <p:cNvSpPr txBox="1"/>
          <p:nvPr/>
        </p:nvSpPr>
        <p:spPr>
          <a:xfrm>
            <a:off x="528299" y="2801568"/>
            <a:ext cx="5262901" cy="388132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150000"/>
              </a:lnSpc>
            </a:pPr>
            <a:r>
              <a:rPr lang="ko-KR" altLang="en-US" sz="2800" spc="-200">
                <a:solidFill>
                  <a:srgbClr val="002841"/>
                </a:solidFill>
                <a:latin typeface="Hallym Gothic Bold"/>
                <a:ea typeface="맑은 고딕"/>
              </a:rPr>
              <a:t>전반적으로 학습이 잘 진행 </a:t>
            </a:r>
            <a:endParaRPr lang="en-US" altLang="ko-KR" sz="2800" spc="-200">
              <a:solidFill>
                <a:srgbClr val="002841"/>
              </a:solidFill>
              <a:latin typeface="Hallym Gothic Bold"/>
              <a:ea typeface="맑은 고딕"/>
            </a:endParaRPr>
          </a:p>
          <a:p>
            <a:pPr>
              <a:lnSpc>
                <a:spcPct val="150000"/>
              </a:lnSpc>
            </a:pPr>
            <a:r>
              <a:rPr lang="ko-KR" altLang="en-US" sz="2800" spc="-200">
                <a:solidFill>
                  <a:srgbClr val="002841"/>
                </a:solidFill>
                <a:latin typeface="Hallym Gothic Bold"/>
                <a:ea typeface="맑은 고딕"/>
              </a:rPr>
              <a:t>갈치 </a:t>
            </a:r>
            <a:r>
              <a:rPr lang="en-US" altLang="ko-KR" sz="2800" spc="-200">
                <a:solidFill>
                  <a:srgbClr val="002841"/>
                </a:solidFill>
                <a:latin typeface="Hallym Gothic Bold"/>
                <a:ea typeface="맑은 고딕"/>
              </a:rPr>
              <a:t>(</a:t>
            </a:r>
            <a:r>
              <a:rPr lang="ko-KR" altLang="en-US" sz="2800" spc="-200">
                <a:solidFill>
                  <a:srgbClr val="002841"/>
                </a:solidFill>
                <a:latin typeface="Hallym Gothic Bold"/>
                <a:ea typeface="맑은 고딕"/>
              </a:rPr>
              <a:t>하</a:t>
            </a:r>
            <a:r>
              <a:rPr lang="en-US" altLang="ko-KR" sz="2800" spc="-200">
                <a:solidFill>
                  <a:srgbClr val="002841"/>
                </a:solidFill>
                <a:latin typeface="Hallym Gothic Bold"/>
                <a:ea typeface="맑은 고딕"/>
              </a:rPr>
              <a:t>)</a:t>
            </a:r>
            <a:r>
              <a:rPr lang="ko-KR" altLang="en-US" sz="2800" spc="-200">
                <a:solidFill>
                  <a:srgbClr val="002841"/>
                </a:solidFill>
                <a:latin typeface="Hallym Gothic Bold"/>
                <a:ea typeface="맑은 고딕"/>
              </a:rPr>
              <a:t>는 조금 부족 확인</a:t>
            </a:r>
            <a:endParaRPr lang="en-US" altLang="ko-KR" sz="2800" spc="-200">
              <a:solidFill>
                <a:srgbClr val="002841"/>
              </a:solidFill>
              <a:latin typeface="Hallym Gothic Bold"/>
              <a:ea typeface="맑은 고딕"/>
            </a:endParaRPr>
          </a:p>
          <a:p>
            <a:pPr>
              <a:lnSpc>
                <a:spcPct val="150000"/>
              </a:lnSpc>
            </a:pPr>
            <a:r>
              <a:rPr lang="ko-KR" altLang="en-US" sz="2800" spc="-200" err="1">
                <a:solidFill>
                  <a:srgbClr val="002841"/>
                </a:solidFill>
                <a:latin typeface="Hallym Gothic Bold"/>
                <a:ea typeface="맑은 고딕"/>
              </a:rPr>
              <a:t>에포크</a:t>
            </a:r>
            <a:r>
              <a:rPr lang="ko-KR" altLang="en-US" sz="2800" spc="-200">
                <a:solidFill>
                  <a:srgbClr val="002841"/>
                </a:solidFill>
                <a:latin typeface="Hallym Gothic Bold"/>
                <a:ea typeface="맑은 고딕"/>
              </a:rPr>
              <a:t> 수를 늘리면 </a:t>
            </a:r>
            <a:r>
              <a:rPr lang="ko-KR" altLang="en-US" sz="2800" spc="-200" err="1">
                <a:solidFill>
                  <a:srgbClr val="002841"/>
                </a:solidFill>
                <a:latin typeface="Hallym Gothic Bold"/>
                <a:ea typeface="맑은 고딕"/>
              </a:rPr>
              <a:t>손실값</a:t>
            </a:r>
            <a:r>
              <a:rPr lang="ko-KR" altLang="en-US" sz="2800" spc="-200">
                <a:solidFill>
                  <a:srgbClr val="002841"/>
                </a:solidFill>
                <a:latin typeface="Hallym Gothic Bold"/>
                <a:ea typeface="맑은 고딕"/>
              </a:rPr>
              <a:t>  감소예상</a:t>
            </a:r>
            <a:endParaRPr lang="en-US" altLang="ko-KR" sz="2800" spc="-200">
              <a:solidFill>
                <a:srgbClr val="002841"/>
              </a:solidFill>
              <a:latin typeface="Hallym Gothic Bold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3082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8C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1AD99D-36EC-C1D1-2819-44296A04C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 descr="텍스트, 도표, 친필, 라인이(가) 표시된 사진&#10;&#10;자동 생성된 설명">
            <a:extLst>
              <a:ext uri="{FF2B5EF4-FFF2-40B4-BE49-F238E27FC236}">
                <a16:creationId xmlns:a16="http://schemas.microsoft.com/office/drawing/2014/main" id="{9E26924F-A754-8B32-A6E7-B1559813B1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106" y="1268622"/>
            <a:ext cx="9348001" cy="6218690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232F26CA-BA4D-8894-84F4-AE8947390D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929" y="259278"/>
            <a:ext cx="17602200" cy="9563100"/>
          </a:xfrm>
          <a:prstGeom prst="rect">
            <a:avLst/>
          </a:prstGeom>
        </p:spPr>
      </p:pic>
      <p:pic>
        <p:nvPicPr>
          <p:cNvPr id="3" name="Picture 5">
            <a:extLst>
              <a:ext uri="{FF2B5EF4-FFF2-40B4-BE49-F238E27FC236}">
                <a16:creationId xmlns:a16="http://schemas.microsoft.com/office/drawing/2014/main" id="{AB1C14DB-F6CB-C9BF-C797-178DD17AF1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5563" y="790478"/>
            <a:ext cx="13597637" cy="35274"/>
          </a:xfrm>
          <a:prstGeom prst="rect">
            <a:avLst/>
          </a:prstGeom>
        </p:spPr>
      </p:pic>
      <p:sp>
        <p:nvSpPr>
          <p:cNvPr id="4" name="TextBox 6">
            <a:extLst>
              <a:ext uri="{FF2B5EF4-FFF2-40B4-BE49-F238E27FC236}">
                <a16:creationId xmlns:a16="http://schemas.microsoft.com/office/drawing/2014/main" id="{F85EC490-F9F0-7B85-4064-EDAF3EAA6A62}"/>
              </a:ext>
            </a:extLst>
          </p:cNvPr>
          <p:cNvSpPr txBox="1"/>
          <p:nvPr/>
        </p:nvSpPr>
        <p:spPr>
          <a:xfrm>
            <a:off x="685800" y="38100"/>
            <a:ext cx="6972300" cy="160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99600"/>
              </a:lnSpc>
            </a:pPr>
            <a:r>
              <a:rPr lang="ko-KR" altLang="en-US" sz="5500" spc="-200">
                <a:solidFill>
                  <a:srgbClr val="002841"/>
                </a:solidFill>
                <a:ea typeface="Hallym Gothic Bold"/>
              </a:rPr>
              <a:t>테스트 결과</a:t>
            </a:r>
            <a:r>
              <a:rPr lang="ko-KR" altLang="en-US" sz="5500" b="0" i="0" u="none" strike="noStrike" spc="-200">
                <a:solidFill>
                  <a:srgbClr val="002841"/>
                </a:solidFill>
                <a:ea typeface="Hallym Gothic Bold"/>
              </a:rPr>
              <a:t> </a:t>
            </a:r>
            <a:endParaRPr lang="ko-KR" sz="5500" b="0" i="0" u="none" strike="noStrike" spc="-200">
              <a:solidFill>
                <a:srgbClr val="002841"/>
              </a:solidFill>
              <a:ea typeface="Hallym Gothic Bold"/>
            </a:endParaRP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21F72343-2BBC-F8BF-6EC9-43045C48A0BC}"/>
              </a:ext>
            </a:extLst>
          </p:cNvPr>
          <p:cNvSpPr txBox="1"/>
          <p:nvPr/>
        </p:nvSpPr>
        <p:spPr>
          <a:xfrm>
            <a:off x="544107" y="8294278"/>
            <a:ext cx="13597637" cy="1410969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124499"/>
              </a:lnSpc>
            </a:pPr>
            <a:r>
              <a:rPr lang="ko-KR" altLang="en-US" sz="3200" spc="-200" dirty="0">
                <a:solidFill>
                  <a:srgbClr val="002841"/>
                </a:solidFill>
                <a:latin typeface="Hallym Gothic Bold"/>
                <a:ea typeface="맑은 고딕"/>
              </a:rPr>
              <a:t>전체적인 단가의 흐름은 예측하는데 성공 </a:t>
            </a:r>
            <a:endParaRPr lang="en-US" altLang="ko-KR" sz="3200" spc="-200" dirty="0">
              <a:solidFill>
                <a:srgbClr val="002841"/>
              </a:solidFill>
              <a:latin typeface="Hallym Gothic Bold"/>
              <a:ea typeface="맑은 고딕"/>
            </a:endParaRPr>
          </a:p>
          <a:p>
            <a:pPr>
              <a:lnSpc>
                <a:spcPct val="124499"/>
              </a:lnSpc>
            </a:pPr>
            <a:r>
              <a:rPr lang="ko-KR" altLang="en-US" sz="3200" spc="-200" dirty="0">
                <a:solidFill>
                  <a:srgbClr val="002841"/>
                </a:solidFill>
                <a:latin typeface="Hallym Gothic Bold"/>
                <a:ea typeface="맑은 고딕"/>
              </a:rPr>
              <a:t>하지만</a:t>
            </a:r>
            <a:r>
              <a:rPr lang="en-US" altLang="ko-KR" sz="3200" spc="-200" dirty="0">
                <a:solidFill>
                  <a:srgbClr val="002841"/>
                </a:solidFill>
                <a:latin typeface="Hallym Gothic Bold"/>
                <a:ea typeface="맑은 고딕"/>
              </a:rPr>
              <a:t>,</a:t>
            </a:r>
            <a:r>
              <a:rPr lang="ko-KR" altLang="en-US" sz="3200" spc="-200" dirty="0">
                <a:solidFill>
                  <a:srgbClr val="002841"/>
                </a:solidFill>
                <a:latin typeface="Hallym Gothic Bold"/>
                <a:ea typeface="맑은 고딕"/>
              </a:rPr>
              <a:t> 단가가 급등하거나 급락하는 경우에는 예측 실패 확인</a:t>
            </a:r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C474260B-2BBB-B875-DEEC-0AC9534BA283}"/>
              </a:ext>
            </a:extLst>
          </p:cNvPr>
          <p:cNvSpPr txBox="1"/>
          <p:nvPr/>
        </p:nvSpPr>
        <p:spPr>
          <a:xfrm>
            <a:off x="544107" y="7521738"/>
            <a:ext cx="8630756" cy="77254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124499"/>
              </a:lnSpc>
            </a:pPr>
            <a:r>
              <a:rPr lang="ko-KR" altLang="en-US" sz="3200" spc="-200" dirty="0">
                <a:solidFill>
                  <a:srgbClr val="002841"/>
                </a:solidFill>
                <a:latin typeface="Hallym Gothic Bold"/>
                <a:ea typeface="맑은 고딕"/>
              </a:rPr>
              <a:t>랜덤으로 뽑은 </a:t>
            </a:r>
            <a:r>
              <a:rPr lang="en-US" altLang="ko-KR" sz="3200" spc="-200" dirty="0">
                <a:solidFill>
                  <a:srgbClr val="002841"/>
                </a:solidFill>
                <a:latin typeface="Hallym Gothic Bold"/>
                <a:ea typeface="맑은 고딕"/>
              </a:rPr>
              <a:t>30</a:t>
            </a:r>
            <a:r>
              <a:rPr lang="ko-KR" altLang="en-US" sz="3200" spc="-200" dirty="0">
                <a:solidFill>
                  <a:srgbClr val="002841"/>
                </a:solidFill>
                <a:latin typeface="Hallym Gothic Bold"/>
                <a:ea typeface="맑은 고딕"/>
              </a:rPr>
              <a:t>일 간의 데이터 셋으로 테스트 진행</a:t>
            </a: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F56E41A0-7578-5E18-03E5-0606F56BC940}"/>
              </a:ext>
            </a:extLst>
          </p:cNvPr>
          <p:cNvSpPr txBox="1"/>
          <p:nvPr/>
        </p:nvSpPr>
        <p:spPr>
          <a:xfrm>
            <a:off x="10035825" y="3220565"/>
            <a:ext cx="8136833" cy="289323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r>
              <a:rPr lang="ko-KR" altLang="en-US" sz="3200" b="1" spc="-200" dirty="0">
                <a:solidFill>
                  <a:srgbClr val="002841"/>
                </a:solidFill>
                <a:latin typeface="맑은 고딕"/>
                <a:ea typeface="맑은 고딕"/>
                <a:cs typeface="Calibri"/>
              </a:rPr>
              <a:t>MAPE</a:t>
            </a:r>
            <a:r>
              <a:rPr lang="ko-KR" altLang="en-US" sz="3200" spc="-200" dirty="0">
                <a:solidFill>
                  <a:srgbClr val="002841"/>
                </a:solidFill>
                <a:latin typeface="맑은 고딕"/>
                <a:ea typeface="맑은 고딕"/>
                <a:cs typeface="Calibri"/>
              </a:rPr>
              <a:t>: </a:t>
            </a:r>
            <a:r>
              <a:rPr lang="ko-KR" sz="3200" spc="-200" dirty="0">
                <a:solidFill>
                  <a:srgbClr val="002841"/>
                </a:solidFill>
                <a:ea typeface="+mn-lt"/>
                <a:cs typeface="+mn-lt"/>
              </a:rPr>
              <a:t>예측 값이 실제 값에서 얼마나 </a:t>
            </a:r>
            <a:r>
              <a:rPr lang="ko-KR" sz="3200" spc="-200" dirty="0">
                <a:solidFill>
                  <a:srgbClr val="FF0000"/>
                </a:solidFill>
                <a:ea typeface="+mn-lt"/>
                <a:cs typeface="+mn-lt"/>
              </a:rPr>
              <a:t>비율적</a:t>
            </a:r>
            <a:r>
              <a:rPr lang="ko-KR" sz="3200" spc="-200" dirty="0">
                <a:solidFill>
                  <a:srgbClr val="002841"/>
                </a:solidFill>
                <a:ea typeface="+mn-lt"/>
                <a:cs typeface="+mn-lt"/>
              </a:rPr>
              <a:t>으로 차이 나는지</a:t>
            </a:r>
            <a:r>
              <a:rPr lang="ko-KR" altLang="en-US" sz="3200" spc="-200" dirty="0">
                <a:solidFill>
                  <a:srgbClr val="002841"/>
                </a:solidFill>
                <a:ea typeface="+mn-lt"/>
                <a:cs typeface="+mn-lt"/>
              </a:rPr>
              <a:t> 비교하는 방식</a:t>
            </a:r>
            <a:endParaRPr lang="ko-KR" altLang="en-US" sz="3200" spc="-200" dirty="0">
              <a:solidFill>
                <a:srgbClr val="002841"/>
              </a:solidFill>
              <a:latin typeface="맑은 고딕"/>
              <a:ea typeface="맑은 고딕"/>
              <a:cs typeface="+mn-lt"/>
            </a:endParaRPr>
          </a:p>
          <a:p>
            <a:endParaRPr lang="ko-KR" altLang="en-US" sz="3200" spc="-200" dirty="0">
              <a:solidFill>
                <a:srgbClr val="002841"/>
              </a:solidFill>
              <a:latin typeface="맑은 고딕"/>
              <a:ea typeface="맑은 고딕"/>
              <a:cs typeface="Calibri"/>
            </a:endParaRPr>
          </a:p>
          <a:p>
            <a:r>
              <a:rPr lang="ko-KR" altLang="en-US" sz="3200" b="1" spc="-200" dirty="0">
                <a:solidFill>
                  <a:srgbClr val="002841"/>
                </a:solidFill>
                <a:latin typeface="맑은 고딕"/>
                <a:ea typeface="맑은 고딕"/>
                <a:cs typeface="Calibri"/>
              </a:rPr>
              <a:t>MAE</a:t>
            </a:r>
            <a:r>
              <a:rPr lang="ko-KR" altLang="en-US" sz="3200" spc="-200" dirty="0">
                <a:solidFill>
                  <a:srgbClr val="002841"/>
                </a:solidFill>
                <a:latin typeface="맑은 고딕"/>
                <a:ea typeface="맑은 고딕"/>
                <a:cs typeface="Calibri"/>
              </a:rPr>
              <a:t>: </a:t>
            </a:r>
            <a:r>
              <a:rPr lang="ko-KR" sz="3200" spc="-200" dirty="0">
                <a:solidFill>
                  <a:srgbClr val="002841"/>
                </a:solidFill>
                <a:ea typeface="+mn-lt"/>
                <a:cs typeface="+mn-lt"/>
              </a:rPr>
              <a:t>예측 값이 실제 값에서 얼마나 차이 나는지를 </a:t>
            </a:r>
            <a:r>
              <a:rPr lang="ko-KR" sz="3200" spc="-200" dirty="0">
                <a:solidFill>
                  <a:srgbClr val="FF0000"/>
                </a:solidFill>
                <a:ea typeface="+mn-lt"/>
                <a:cs typeface="+mn-lt"/>
              </a:rPr>
              <a:t>절대 값</a:t>
            </a:r>
            <a:r>
              <a:rPr lang="ko-KR" sz="3200" spc="-200" dirty="0">
                <a:solidFill>
                  <a:srgbClr val="002841"/>
                </a:solidFill>
                <a:ea typeface="+mn-lt"/>
                <a:cs typeface="+mn-lt"/>
              </a:rPr>
              <a:t>으로 비교하는 방식</a:t>
            </a:r>
            <a:endParaRPr lang="ko-KR" altLang="en-US" sz="3200" spc="-200" dirty="0">
              <a:solidFill>
                <a:srgbClr val="002841"/>
              </a:solidFill>
              <a:ea typeface="+mn-lt"/>
              <a:cs typeface="+mn-lt"/>
            </a:endParaRPr>
          </a:p>
        </p:txBody>
      </p:sp>
      <p:pic>
        <p:nvPicPr>
          <p:cNvPr id="8" name="그림 7" descr="폰트, 텍스트, 화이트, 도표이(가) 표시된 사진&#10;&#10;자동 생성된 설명">
            <a:extLst>
              <a:ext uri="{FF2B5EF4-FFF2-40B4-BE49-F238E27FC236}">
                <a16:creationId xmlns:a16="http://schemas.microsoft.com/office/drawing/2014/main" id="{3CC575A3-3C75-598C-5DAA-5BE28F8FDD2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991" r="8425"/>
          <a:stretch/>
        </p:blipFill>
        <p:spPr>
          <a:xfrm>
            <a:off x="10089637" y="1406891"/>
            <a:ext cx="3621537" cy="1232535"/>
          </a:xfrm>
          <a:prstGeom prst="rect">
            <a:avLst/>
          </a:prstGeom>
        </p:spPr>
      </p:pic>
      <p:pic>
        <p:nvPicPr>
          <p:cNvPr id="9" name="그림 8" descr="폰트, 화이트, 텍스트, 도표이(가) 표시된 사진&#10;&#10;자동 생성된 설명">
            <a:extLst>
              <a:ext uri="{FF2B5EF4-FFF2-40B4-BE49-F238E27FC236}">
                <a16:creationId xmlns:a16="http://schemas.microsoft.com/office/drawing/2014/main" id="{1DF54B13-C23C-986A-EFC3-DED84F8E882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9257" r="5996"/>
          <a:stretch/>
        </p:blipFill>
        <p:spPr>
          <a:xfrm>
            <a:off x="14361663" y="1378316"/>
            <a:ext cx="3382230" cy="1261110"/>
          </a:xfrm>
          <a:prstGeom prst="rect">
            <a:avLst/>
          </a:prstGeom>
        </p:spPr>
      </p:pic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7E27B4E9-2140-A336-54FD-5CF908C3ED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2172228"/>
              </p:ext>
            </p:extLst>
          </p:nvPr>
        </p:nvGraphicFramePr>
        <p:xfrm>
          <a:off x="11449822" y="6092866"/>
          <a:ext cx="4993944" cy="27872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648">
                  <a:extLst>
                    <a:ext uri="{9D8B030D-6E8A-4147-A177-3AD203B41FA5}">
                      <a16:colId xmlns:a16="http://schemas.microsoft.com/office/drawing/2014/main" val="3291234914"/>
                    </a:ext>
                  </a:extLst>
                </a:gridCol>
                <a:gridCol w="3329296">
                  <a:extLst>
                    <a:ext uri="{9D8B030D-6E8A-4147-A177-3AD203B41FA5}">
                      <a16:colId xmlns:a16="http://schemas.microsoft.com/office/drawing/2014/main" val="2095103414"/>
                    </a:ext>
                  </a:extLst>
                </a:gridCol>
              </a:tblGrid>
              <a:tr h="92908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84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dirty="0">
                          <a:solidFill>
                            <a:schemeClr val="bg1"/>
                          </a:solidFill>
                        </a:rPr>
                        <a:t>기본 모델</a:t>
                      </a:r>
                    </a:p>
                  </a:txBody>
                  <a:tcPr anchor="ctr">
                    <a:solidFill>
                      <a:srgbClr val="00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036139"/>
                  </a:ext>
                </a:extLst>
              </a:tr>
              <a:tr h="92908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800" dirty="0">
                          <a:solidFill>
                            <a:schemeClr val="tx1"/>
                          </a:solidFill>
                        </a:rPr>
                        <a:t>MAPE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solidFill>
                            <a:schemeClr val="tx1"/>
                          </a:solidFill>
                        </a:rPr>
                        <a:t>36.99%</a:t>
                      </a:r>
                      <a:endParaRPr lang="ko-KR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2529952"/>
                  </a:ext>
                </a:extLst>
              </a:tr>
              <a:tr h="92908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800">
                          <a:solidFill>
                            <a:schemeClr val="tx1"/>
                          </a:solidFill>
                        </a:rPr>
                        <a:t>MAE</a:t>
                      </a:r>
                    </a:p>
                  </a:txBody>
                  <a:tcPr anchor="ctr"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solidFill>
                            <a:schemeClr val="tx1"/>
                          </a:solidFill>
                        </a:rPr>
                        <a:t>2000.86</a:t>
                      </a:r>
                      <a:endParaRPr lang="ko-KR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rgbClr val="DDD9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29871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2736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8C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1EB82C-CCA3-C29A-5367-5DA2C3240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스크린샷, 번호, 문서이(가) 표시된 사진&#10;&#10;자동 생성된 설명">
            <a:extLst>
              <a:ext uri="{FF2B5EF4-FFF2-40B4-BE49-F238E27FC236}">
                <a16:creationId xmlns:a16="http://schemas.microsoft.com/office/drawing/2014/main" id="{36CC9712-DC56-D9D8-4E14-17F4D0FFDF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7664" y="1471807"/>
            <a:ext cx="7313440" cy="7893423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ADF2F922-B7E2-D655-B687-DCC2A30F04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349681"/>
            <a:ext cx="17602200" cy="95631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0DF4729A-24B7-EADE-081C-97C3847121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0192" y="794363"/>
            <a:ext cx="10603008" cy="27505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3553F2D5-F568-B50A-55AC-14A396651C77}"/>
              </a:ext>
            </a:extLst>
          </p:cNvPr>
          <p:cNvSpPr txBox="1"/>
          <p:nvPr/>
        </p:nvSpPr>
        <p:spPr>
          <a:xfrm>
            <a:off x="685800" y="38100"/>
            <a:ext cx="6972300" cy="160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5500" spc="-200" err="1">
                <a:solidFill>
                  <a:srgbClr val="002841"/>
                </a:solidFill>
                <a:ea typeface="Hallym Gothic Bold"/>
              </a:rPr>
              <a:t>하이퍼</a:t>
            </a:r>
            <a:r>
              <a:rPr lang="ko-KR" altLang="en-US" sz="5500" spc="-200">
                <a:solidFill>
                  <a:srgbClr val="002841"/>
                </a:solidFill>
                <a:ea typeface="Hallym Gothic Bold"/>
              </a:rPr>
              <a:t> 파라미터 튜닝</a:t>
            </a:r>
            <a:endParaRPr lang="ko-KR" sz="5500" b="0" i="0" u="none" strike="noStrike" spc="-200">
              <a:solidFill>
                <a:srgbClr val="002841"/>
              </a:solidFill>
              <a:ea typeface="Hallym Gothic Bold"/>
            </a:endParaRP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D1C236B2-769A-F233-E334-BC5B45E2BD09}"/>
              </a:ext>
            </a:extLst>
          </p:cNvPr>
          <p:cNvSpPr txBox="1"/>
          <p:nvPr/>
        </p:nvSpPr>
        <p:spPr>
          <a:xfrm>
            <a:off x="843124" y="7875130"/>
            <a:ext cx="8991591" cy="86208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124499"/>
              </a:lnSpc>
            </a:pPr>
            <a:endParaRPr lang="en-US" sz="4000" spc="-200">
              <a:solidFill>
                <a:srgbClr val="002841"/>
              </a:solidFill>
              <a:latin typeface="Hallym Gothic Bold"/>
            </a:endParaRPr>
          </a:p>
          <a:p>
            <a:pPr algn="ctr">
              <a:lnSpc>
                <a:spcPct val="124499"/>
              </a:lnSpc>
            </a:pPr>
            <a:endParaRPr lang="en-US" altLang="ko-KR" sz="4000" spc="-200">
              <a:solidFill>
                <a:srgbClr val="002841"/>
              </a:solidFill>
              <a:latin typeface="Hallym Gothic Bold"/>
              <a:ea typeface="맑은 고딕"/>
            </a:endParaRPr>
          </a:p>
          <a:p>
            <a:pPr algn="ctr">
              <a:lnSpc>
                <a:spcPct val="124499"/>
              </a:lnSpc>
            </a:pPr>
            <a:r>
              <a:rPr lang="ko-KR" altLang="en-US" sz="4000" spc="-200">
                <a:solidFill>
                  <a:srgbClr val="002841"/>
                </a:solidFill>
                <a:latin typeface="Hallym Gothic Bold"/>
                <a:ea typeface="맑은 고딕"/>
              </a:rPr>
              <a:t>총</a:t>
            </a:r>
            <a:r>
              <a:rPr lang="en-US" sz="4000" spc="-200">
                <a:solidFill>
                  <a:srgbClr val="002841"/>
                </a:solidFill>
                <a:latin typeface="Hallym Gothic Bold"/>
              </a:rPr>
              <a:t> 24</a:t>
            </a:r>
            <a:r>
              <a:rPr lang="ko-KR" altLang="en-US" sz="4000" spc="-200">
                <a:solidFill>
                  <a:srgbClr val="002841"/>
                </a:solidFill>
                <a:latin typeface="Hallym Gothic Bold"/>
                <a:ea typeface="맑은 고딕"/>
              </a:rPr>
              <a:t>가지</a:t>
            </a:r>
            <a:r>
              <a:rPr lang="en-US" sz="4000" spc="-200">
                <a:solidFill>
                  <a:srgbClr val="002841"/>
                </a:solidFill>
                <a:latin typeface="Hallym Gothic Bold"/>
              </a:rPr>
              <a:t> </a:t>
            </a:r>
            <a:r>
              <a:rPr lang="ko-KR" altLang="en-US" sz="4000" spc="-200">
                <a:solidFill>
                  <a:srgbClr val="002841"/>
                </a:solidFill>
                <a:latin typeface="Hallym Gothic Bold"/>
                <a:ea typeface="맑은 고딕"/>
              </a:rPr>
              <a:t>경우의</a:t>
            </a:r>
            <a:r>
              <a:rPr lang="en-US" altLang="ko-KR" sz="4000" spc="-200">
                <a:solidFill>
                  <a:srgbClr val="002841"/>
                </a:solidFill>
                <a:latin typeface="Hallym Gothic Bold"/>
                <a:ea typeface="맑은 고딕"/>
              </a:rPr>
              <a:t> </a:t>
            </a:r>
            <a:r>
              <a:rPr lang="ko-KR" altLang="en-US" sz="4000" spc="-200">
                <a:solidFill>
                  <a:srgbClr val="002841"/>
                </a:solidFill>
                <a:latin typeface="Hallym Gothic Bold"/>
                <a:ea typeface="맑은 고딕"/>
              </a:rPr>
              <a:t>수</a:t>
            </a:r>
            <a:r>
              <a:rPr lang="en-US" altLang="ko-KR" sz="4000" spc="-200">
                <a:solidFill>
                  <a:srgbClr val="002841"/>
                </a:solidFill>
                <a:latin typeface="Hallym Gothic Bold"/>
                <a:ea typeface="맑은 고딕"/>
              </a:rPr>
              <a:t> </a:t>
            </a:r>
            <a:r>
              <a:rPr lang="en-US" altLang="ko-KR" sz="4000" spc="-200" err="1">
                <a:solidFill>
                  <a:srgbClr val="002841"/>
                </a:solidFill>
                <a:latin typeface="Hallym Gothic Bold"/>
                <a:ea typeface="맑은 고딕"/>
              </a:rPr>
              <a:t>파라미터</a:t>
            </a:r>
            <a:r>
              <a:rPr lang="en-US" altLang="ko-KR" sz="4000" spc="-200">
                <a:solidFill>
                  <a:srgbClr val="002841"/>
                </a:solidFill>
                <a:latin typeface="Hallym Gothic Bold"/>
                <a:ea typeface="맑은 고딕"/>
              </a:rPr>
              <a:t> </a:t>
            </a:r>
            <a:r>
              <a:rPr lang="en-US" altLang="ko-KR" sz="4000" spc="-200" err="1">
                <a:solidFill>
                  <a:srgbClr val="002841"/>
                </a:solidFill>
                <a:latin typeface="Hallym Gothic Bold"/>
                <a:ea typeface="맑은 고딕"/>
              </a:rPr>
              <a:t>튜닝</a:t>
            </a:r>
            <a:r>
              <a:rPr lang="en-US" altLang="ko-KR" sz="4000" spc="-200">
                <a:solidFill>
                  <a:srgbClr val="002841"/>
                </a:solidFill>
                <a:latin typeface="Hallym Gothic Bold"/>
                <a:ea typeface="맑은 고딕"/>
              </a:rPr>
              <a:t> </a:t>
            </a:r>
            <a:r>
              <a:rPr lang="en-US" altLang="ko-KR" sz="4000" spc="-200" err="1">
                <a:solidFill>
                  <a:srgbClr val="002841"/>
                </a:solidFill>
                <a:latin typeface="Hallym Gothic Bold"/>
                <a:ea typeface="맑은 고딕"/>
              </a:rPr>
              <a:t>진행</a:t>
            </a:r>
            <a:endParaRPr lang="en-US" altLang="ko-KR" sz="4000" spc="-200">
              <a:solidFill>
                <a:srgbClr val="002841"/>
              </a:solidFill>
              <a:latin typeface="Hallym Gothic Bold"/>
              <a:ea typeface="맑은 고딕"/>
            </a:endParaRPr>
          </a:p>
          <a:p>
            <a:pPr algn="ctr">
              <a:lnSpc>
                <a:spcPct val="124499"/>
              </a:lnSpc>
            </a:pPr>
            <a:endParaRPr lang="en-US" sz="4000" spc="-200">
              <a:solidFill>
                <a:srgbClr val="002841"/>
              </a:solidFill>
              <a:latin typeface="Hallym Gothic Bold"/>
            </a:endParaRPr>
          </a:p>
          <a:p>
            <a:pPr algn="ctr">
              <a:lnSpc>
                <a:spcPct val="124499"/>
              </a:lnSpc>
            </a:pPr>
            <a:endParaRPr lang="en-US" sz="4000" spc="-200">
              <a:solidFill>
                <a:srgbClr val="002841"/>
              </a:solidFill>
              <a:latin typeface="Hallym Gothic Bold"/>
            </a:endParaRP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A20456DD-AA30-0A09-C994-3B56BB24E146}"/>
              </a:ext>
            </a:extLst>
          </p:cNvPr>
          <p:cNvSpPr txBox="1"/>
          <p:nvPr/>
        </p:nvSpPr>
        <p:spPr>
          <a:xfrm>
            <a:off x="685801" y="1336778"/>
            <a:ext cx="4038600" cy="70973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124499"/>
              </a:lnSpc>
            </a:pPr>
            <a:r>
              <a:rPr lang="en-US" altLang="ko-KR" sz="2600" b="1" spc="-200" err="1">
                <a:solidFill>
                  <a:srgbClr val="002841"/>
                </a:solidFill>
                <a:ea typeface="맑은 고딕"/>
                <a:cs typeface="Calibri"/>
              </a:rPr>
              <a:t>하이퍼</a:t>
            </a:r>
            <a:r>
              <a:rPr lang="en-US" altLang="ko-KR" sz="2600" b="1" spc="-200">
                <a:solidFill>
                  <a:srgbClr val="002841"/>
                </a:solidFill>
                <a:ea typeface="맑은 고딕"/>
                <a:cs typeface="Calibri"/>
              </a:rPr>
              <a:t> </a:t>
            </a:r>
            <a:r>
              <a:rPr lang="en-US" altLang="ko-KR" sz="2600" b="1" spc="-200" err="1">
                <a:solidFill>
                  <a:srgbClr val="002841"/>
                </a:solidFill>
                <a:ea typeface="맑은 고딕"/>
                <a:cs typeface="Calibri"/>
              </a:rPr>
              <a:t>파라미터</a:t>
            </a:r>
            <a:r>
              <a:rPr lang="en-US" altLang="ko-KR" sz="2600" b="1" spc="-200">
                <a:solidFill>
                  <a:srgbClr val="002841"/>
                </a:solidFill>
                <a:ea typeface="맑은 고딕"/>
                <a:cs typeface="Calibri"/>
              </a:rPr>
              <a:t> </a:t>
            </a:r>
            <a:r>
              <a:rPr lang="en-US" altLang="ko-KR" sz="2600" b="1" spc="-200" err="1">
                <a:solidFill>
                  <a:srgbClr val="002841"/>
                </a:solidFill>
                <a:ea typeface="맑은 고딕"/>
                <a:cs typeface="Calibri"/>
              </a:rPr>
              <a:t>튜닝</a:t>
            </a:r>
            <a:r>
              <a:rPr lang="en-US" altLang="ko-KR" sz="2600" b="1" spc="-200">
                <a:solidFill>
                  <a:srgbClr val="002841"/>
                </a:solidFill>
                <a:ea typeface="맑은 고딕"/>
                <a:cs typeface="Calibri"/>
              </a:rPr>
              <a:t> </a:t>
            </a:r>
            <a:r>
              <a:rPr lang="en-US" altLang="ko-KR" sz="2600" b="1" spc="-200" err="1">
                <a:solidFill>
                  <a:srgbClr val="002841"/>
                </a:solidFill>
                <a:ea typeface="맑은 고딕"/>
                <a:cs typeface="Calibri"/>
              </a:rPr>
              <a:t>구성</a:t>
            </a:r>
            <a:r>
              <a:rPr lang="en-US" altLang="ko-KR" sz="2600" b="1" spc="-200">
                <a:solidFill>
                  <a:srgbClr val="002841"/>
                </a:solidFill>
                <a:ea typeface="맑은 고딕"/>
                <a:cs typeface="Calibri"/>
              </a:rPr>
              <a:t> 값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71C95C2-3AA6-0F62-0F46-46DFA2469C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5299576"/>
              </p:ext>
            </p:extLst>
          </p:nvPr>
        </p:nvGraphicFramePr>
        <p:xfrm>
          <a:off x="843124" y="2424438"/>
          <a:ext cx="8991597" cy="4022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5099">
                  <a:extLst>
                    <a:ext uri="{9D8B030D-6E8A-4147-A177-3AD203B41FA5}">
                      <a16:colId xmlns:a16="http://schemas.microsoft.com/office/drawing/2014/main" val="1519882204"/>
                    </a:ext>
                  </a:extLst>
                </a:gridCol>
                <a:gridCol w="2190749">
                  <a:extLst>
                    <a:ext uri="{9D8B030D-6E8A-4147-A177-3AD203B41FA5}">
                      <a16:colId xmlns:a16="http://schemas.microsoft.com/office/drawing/2014/main" val="1946442863"/>
                    </a:ext>
                  </a:extLst>
                </a:gridCol>
                <a:gridCol w="952499">
                  <a:extLst>
                    <a:ext uri="{9D8B030D-6E8A-4147-A177-3AD203B41FA5}">
                      <a16:colId xmlns:a16="http://schemas.microsoft.com/office/drawing/2014/main" val="2444898488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3702785178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427690417"/>
                    </a:ext>
                  </a:extLst>
                </a:gridCol>
              </a:tblGrid>
              <a:tr h="8045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spc="-200" err="1">
                          <a:solidFill>
                            <a:srgbClr val="002841"/>
                          </a:solidFill>
                          <a:latin typeface="Hallym Gothic Bold"/>
                        </a:rPr>
                        <a:t>Batch_Size</a:t>
                      </a:r>
                      <a:r>
                        <a:rPr lang="en-US" altLang="ko-KR" sz="3200" b="1" spc="-200">
                          <a:solidFill>
                            <a:srgbClr val="002841"/>
                          </a:solidFill>
                          <a:latin typeface="Hallym Gothic Bold"/>
                        </a:rPr>
                        <a:t> </a:t>
                      </a:r>
                      <a:endParaRPr lang="en-US" altLang="ko-KR" sz="3200" b="1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32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chemeClr val="tx1"/>
                          </a:solidFill>
                        </a:rPr>
                        <a:t>16</a:t>
                      </a:r>
                      <a:endParaRPr lang="ko-KR" altLang="en-US" sz="32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32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459930"/>
                  </a:ext>
                </a:extLst>
              </a:tr>
              <a:tr h="8045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spc="-200" dirty="0">
                          <a:solidFill>
                            <a:srgbClr val="002841"/>
                          </a:solidFill>
                          <a:latin typeface="Hallym Gothic Bold"/>
                        </a:rPr>
                        <a:t>Dropout(0.3)</a:t>
                      </a:r>
                      <a:endParaRPr lang="ko-KR" altLang="en-US" sz="3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b="1" i="0" u="none" strike="noStrike" noProof="0">
                          <a:solidFill>
                            <a:schemeClr val="tx1"/>
                          </a:solidFill>
                          <a:latin typeface="Calibri"/>
                        </a:rPr>
                        <a:t>O</a:t>
                      </a:r>
                      <a:endParaRPr lang="en-US" sz="3200" b="0" i="0" u="none" strike="noStrike" noProof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3200" b="0" i="0" u="none" strike="noStrike" noProof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chemeClr val="tx1"/>
                          </a:solidFill>
                        </a:rPr>
                        <a:t>X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005444"/>
                  </a:ext>
                </a:extLst>
              </a:tr>
              <a:tr h="8045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spc="-200">
                          <a:solidFill>
                            <a:srgbClr val="002841"/>
                          </a:solidFill>
                          <a:latin typeface="Hallym Gothic Bold"/>
                        </a:rPr>
                        <a:t>Cov1D</a:t>
                      </a:r>
                      <a:endParaRPr lang="ko-KR" altLang="en-US" sz="32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chemeClr val="tx1"/>
                          </a:solidFill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32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chemeClr val="tx1"/>
                          </a:solidFill>
                        </a:rPr>
                        <a:t>X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447293"/>
                  </a:ext>
                </a:extLst>
              </a:tr>
              <a:tr h="8045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spc="-200">
                          <a:solidFill>
                            <a:srgbClr val="002841"/>
                          </a:solidFill>
                          <a:latin typeface="Hallym Gothic Bold"/>
                        </a:rPr>
                        <a:t>Dense Layer </a:t>
                      </a:r>
                      <a:endParaRPr lang="ko-KR" altLang="en-US" sz="32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3200" b="1">
                          <a:solidFill>
                            <a:schemeClr val="tx1"/>
                          </a:solidFill>
                        </a:rPr>
                        <a:t>32</a:t>
                      </a:r>
                      <a:endParaRPr lang="ko-KR" altLang="en-US" sz="32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200" b="1" i="0" u="none" strike="noStrike" noProof="0">
                          <a:solidFill>
                            <a:schemeClr val="tx1"/>
                          </a:solidFill>
                          <a:latin typeface="Calibri"/>
                        </a:rPr>
                        <a:t>32,16</a:t>
                      </a:r>
                      <a:endParaRPr lang="ko-KR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1378776"/>
                  </a:ext>
                </a:extLst>
              </a:tr>
              <a:tr h="8045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spc="-200">
                          <a:solidFill>
                            <a:srgbClr val="002841"/>
                          </a:solidFill>
                          <a:latin typeface="Hallym Gothic Bold"/>
                        </a:rPr>
                        <a:t>Epoch</a:t>
                      </a:r>
                      <a:endParaRPr lang="ko-KR" altLang="en-US" sz="32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/>
                        <a:t>300</a:t>
                      </a:r>
                      <a:endParaRPr lang="ko-KR" altLang="en-US" sz="3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32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7818861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5F117EF5-7000-0F37-E897-E469DC20A822}"/>
              </a:ext>
            </a:extLst>
          </p:cNvPr>
          <p:cNvSpPr/>
          <p:nvPr/>
        </p:nvSpPr>
        <p:spPr>
          <a:xfrm>
            <a:off x="10390986" y="1776694"/>
            <a:ext cx="7334250" cy="40005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86475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8C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0CD902-28C3-3CCC-0262-064E6D0AD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67A2EBB-2543-08A6-D9F3-EF13AC807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929" y="259278"/>
            <a:ext cx="17602200" cy="95631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8AEAFE7B-4C2C-0C13-7C4F-495B136AF4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8949" y="1262338"/>
            <a:ext cx="6524251" cy="16916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CFCC8A87-AEEF-88C2-7193-25B0C505DB83}"/>
              </a:ext>
            </a:extLst>
          </p:cNvPr>
          <p:cNvSpPr txBox="1"/>
          <p:nvPr/>
        </p:nvSpPr>
        <p:spPr>
          <a:xfrm>
            <a:off x="685800" y="468563"/>
            <a:ext cx="11090340" cy="160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99600"/>
              </a:lnSpc>
            </a:pPr>
            <a:r>
              <a:rPr lang="ko-KR" altLang="en-US" sz="5500" spc="-200" dirty="0" err="1">
                <a:solidFill>
                  <a:srgbClr val="002841"/>
                </a:solidFill>
                <a:ea typeface="Hallym Gothic Bold"/>
              </a:rPr>
              <a:t>하이퍼</a:t>
            </a:r>
            <a:r>
              <a:rPr lang="ko-KR" altLang="en-US" sz="5500" spc="-200" dirty="0">
                <a:solidFill>
                  <a:srgbClr val="002841"/>
                </a:solidFill>
                <a:ea typeface="Hallym Gothic Bold"/>
              </a:rPr>
              <a:t> 파라미터 튜닝 모델 구성</a:t>
            </a:r>
            <a:endParaRPr lang="ko-KR" altLang="en-US" sz="5500" b="0" i="0" u="none" strike="noStrike" spc="-200" dirty="0">
              <a:solidFill>
                <a:srgbClr val="002841"/>
              </a:solidFill>
              <a:ea typeface="Hallym Gothic Bold"/>
              <a:cs typeface="Calibri"/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94D7FA80-93AE-F65A-4C60-95EF55DA8E80}"/>
              </a:ext>
            </a:extLst>
          </p:cNvPr>
          <p:cNvSpPr txBox="1"/>
          <p:nvPr/>
        </p:nvSpPr>
        <p:spPr>
          <a:xfrm>
            <a:off x="11597640" y="2990336"/>
            <a:ext cx="6156960" cy="508356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4000" spc="-200" dirty="0">
                <a:solidFill>
                  <a:srgbClr val="002841"/>
                </a:solidFill>
                <a:latin typeface="Hallym Gothic Bold"/>
              </a:rPr>
              <a:t>Optimizer</a:t>
            </a:r>
            <a:r>
              <a:rPr lang="ko-KR" altLang="en-US" sz="4000" spc="-200" dirty="0">
                <a:solidFill>
                  <a:srgbClr val="002841"/>
                </a:solidFill>
                <a:latin typeface="Hallym Gothic Bold"/>
                <a:ea typeface="맑은 고딕"/>
              </a:rPr>
              <a:t> </a:t>
            </a:r>
            <a:r>
              <a:rPr lang="en-US" altLang="ko-KR" sz="4000" spc="-200" dirty="0">
                <a:solidFill>
                  <a:srgbClr val="002841"/>
                </a:solidFill>
                <a:latin typeface="Hallym Gothic Bold"/>
                <a:ea typeface="맑은 고딕"/>
              </a:rPr>
              <a:t>=</a:t>
            </a:r>
            <a:r>
              <a:rPr lang="ko-KR" altLang="en-US" sz="4000" spc="-200" dirty="0">
                <a:solidFill>
                  <a:srgbClr val="002841"/>
                </a:solidFill>
                <a:latin typeface="Hallym Gothic Bold"/>
                <a:ea typeface="맑은 고딕"/>
              </a:rPr>
              <a:t> </a:t>
            </a:r>
            <a:r>
              <a:rPr lang="en-US" altLang="ko-KR" sz="4000" spc="-200" dirty="0">
                <a:solidFill>
                  <a:srgbClr val="002841"/>
                </a:solidFill>
                <a:latin typeface="Hallym Gothic Bold"/>
                <a:ea typeface="맑은 고딕"/>
              </a:rPr>
              <a:t>Adam</a:t>
            </a:r>
          </a:p>
          <a:p>
            <a:pPr lvl="0" algn="l">
              <a:lnSpc>
                <a:spcPct val="124499"/>
              </a:lnSpc>
            </a:pPr>
            <a:r>
              <a:rPr lang="en-US" sz="4000" spc="-200" dirty="0" err="1">
                <a:solidFill>
                  <a:srgbClr val="002841"/>
                </a:solidFill>
                <a:latin typeface="Hallym Gothic Bold"/>
              </a:rPr>
              <a:t>Learning_rate</a:t>
            </a:r>
            <a:r>
              <a:rPr lang="en-US" sz="4000" spc="-200" dirty="0">
                <a:solidFill>
                  <a:srgbClr val="002841"/>
                </a:solidFill>
                <a:latin typeface="Hallym Gothic Bold"/>
              </a:rPr>
              <a:t> = 0.001</a:t>
            </a:r>
          </a:p>
          <a:p>
            <a:pPr lvl="0" algn="l">
              <a:lnSpc>
                <a:spcPct val="124499"/>
              </a:lnSpc>
            </a:pPr>
            <a:r>
              <a:rPr lang="ko-KR" altLang="en-US" sz="4000" spc="-200" dirty="0">
                <a:solidFill>
                  <a:srgbClr val="002841"/>
                </a:solidFill>
                <a:latin typeface="Hallym Gothic Bold"/>
                <a:ea typeface="맑은 고딕"/>
              </a:rPr>
              <a:t>손실함수 </a:t>
            </a:r>
            <a:r>
              <a:rPr lang="en-US" altLang="ko-KR" sz="4000" spc="-200" dirty="0">
                <a:solidFill>
                  <a:srgbClr val="002841"/>
                </a:solidFill>
                <a:latin typeface="Hallym Gothic Bold"/>
                <a:ea typeface="맑은 고딕"/>
              </a:rPr>
              <a:t>: MSE</a:t>
            </a:r>
          </a:p>
          <a:p>
            <a:pPr lvl="0" algn="l">
              <a:lnSpc>
                <a:spcPct val="124499"/>
              </a:lnSpc>
            </a:pPr>
            <a:r>
              <a:rPr lang="en-US" sz="4000" b="0" i="0" u="none" strike="noStrike" spc="-200" dirty="0">
                <a:solidFill>
                  <a:srgbClr val="002841"/>
                </a:solidFill>
                <a:latin typeface="Hallym Gothic Bold"/>
              </a:rPr>
              <a:t>Epochs = </a:t>
            </a:r>
            <a:r>
              <a:rPr lang="en-US" sz="4000" spc="-200" dirty="0">
                <a:solidFill>
                  <a:srgbClr val="002841"/>
                </a:solidFill>
                <a:latin typeface="Hallym Gothic Bold"/>
              </a:rPr>
              <a:t>200</a:t>
            </a:r>
            <a:endParaRPr lang="en-US" sz="4000" b="0" i="0" u="none" strike="noStrike" spc="-200" dirty="0">
              <a:solidFill>
                <a:srgbClr val="002841"/>
              </a:solidFill>
              <a:latin typeface="Hallym Gothic Bold"/>
            </a:endParaRPr>
          </a:p>
          <a:p>
            <a:pPr lvl="0" algn="l">
              <a:lnSpc>
                <a:spcPct val="124499"/>
              </a:lnSpc>
            </a:pPr>
            <a:r>
              <a:rPr lang="en-US" sz="4000" spc="-200" dirty="0" err="1">
                <a:solidFill>
                  <a:srgbClr val="002841"/>
                </a:solidFill>
                <a:latin typeface="Hallym Gothic Bold"/>
              </a:rPr>
              <a:t>Batch_size</a:t>
            </a:r>
            <a:r>
              <a:rPr lang="en-US" sz="4000" spc="-200" dirty="0">
                <a:solidFill>
                  <a:srgbClr val="002841"/>
                </a:solidFill>
                <a:latin typeface="Hallym Gothic Bold"/>
              </a:rPr>
              <a:t> = 16</a:t>
            </a:r>
          </a:p>
          <a:p>
            <a:pPr>
              <a:lnSpc>
                <a:spcPct val="124499"/>
              </a:lnSpc>
            </a:pPr>
            <a:r>
              <a:rPr lang="en-US" sz="4000" spc="-200" dirty="0">
                <a:solidFill>
                  <a:srgbClr val="002841"/>
                </a:solidFill>
                <a:latin typeface="Hallym Gothic Bold"/>
              </a:rPr>
              <a:t>Dropout = 0.3</a:t>
            </a:r>
          </a:p>
          <a:p>
            <a:pPr>
              <a:lnSpc>
                <a:spcPct val="124499"/>
              </a:lnSpc>
            </a:pPr>
            <a:r>
              <a:rPr lang="en-US" sz="4000" spc="-200" dirty="0">
                <a:solidFill>
                  <a:srgbClr val="002841"/>
                </a:solidFill>
                <a:latin typeface="Hallym Gothic Bold"/>
              </a:rPr>
              <a:t>Train : Val : Test = 6 : 3 : 1</a:t>
            </a:r>
          </a:p>
          <a:p>
            <a:pPr>
              <a:lnSpc>
                <a:spcPct val="124499"/>
              </a:lnSpc>
            </a:pPr>
            <a:r>
              <a:rPr lang="en-US" sz="4000" spc="-200" dirty="0">
                <a:solidFill>
                  <a:srgbClr val="002841"/>
                </a:solidFill>
                <a:latin typeface="Hallym Gothic Bold"/>
              </a:rPr>
              <a:t>                    540 : 232 : 90</a:t>
            </a:r>
          </a:p>
        </p:txBody>
      </p:sp>
      <p:pic>
        <p:nvPicPr>
          <p:cNvPr id="10" name="그림 9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B8FB567D-28F8-B0C3-2787-702B4B70E9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558" y="3418717"/>
            <a:ext cx="10094356" cy="3235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935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8C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7162F4-84E4-FCEB-E8E7-27405F7C6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7D9270F-FAE9-7D97-41C3-2FCC287F3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929" y="259278"/>
            <a:ext cx="17602200" cy="95631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AF3609B1-EC9C-75C9-501E-83F56EDBD6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7990" y="798654"/>
            <a:ext cx="7295210" cy="18923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2E4621E4-C4E7-E0E8-462A-F68C4DC3183E}"/>
              </a:ext>
            </a:extLst>
          </p:cNvPr>
          <p:cNvSpPr txBox="1"/>
          <p:nvPr/>
        </p:nvSpPr>
        <p:spPr>
          <a:xfrm>
            <a:off x="685800" y="38100"/>
            <a:ext cx="12115800" cy="160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99600"/>
              </a:lnSpc>
            </a:pPr>
            <a:r>
              <a:rPr lang="ko-KR" altLang="en-US" sz="5500" spc="-200" err="1">
                <a:solidFill>
                  <a:srgbClr val="002841"/>
                </a:solidFill>
                <a:ea typeface="Hallym Gothic Bold"/>
                <a:cs typeface="Calibri"/>
              </a:rPr>
              <a:t>하이퍼</a:t>
            </a:r>
            <a:r>
              <a:rPr lang="ko-KR" altLang="en-US" sz="5500" spc="-200">
                <a:solidFill>
                  <a:srgbClr val="002841"/>
                </a:solidFill>
                <a:ea typeface="Hallym Gothic Bold"/>
                <a:cs typeface="Calibri"/>
              </a:rPr>
              <a:t> 파라미터 튜닝 학습 결과</a:t>
            </a:r>
            <a:endParaRPr lang="ko-KR" altLang="en-US" sz="5500" b="0" i="0" u="none" strike="noStrike" spc="-200">
              <a:solidFill>
                <a:srgbClr val="002841"/>
              </a:solidFill>
              <a:ea typeface="Hallym Gothic Bold"/>
              <a:cs typeface="Calibri"/>
            </a:endParaRPr>
          </a:p>
        </p:txBody>
      </p:sp>
      <p:pic>
        <p:nvPicPr>
          <p:cNvPr id="3" name="그림 2" descr="텍스트, 도표, 라인, 평면도이(가) 표시된 사진&#10;&#10;자동 생성된 설명">
            <a:extLst>
              <a:ext uri="{FF2B5EF4-FFF2-40B4-BE49-F238E27FC236}">
                <a16:creationId xmlns:a16="http://schemas.microsoft.com/office/drawing/2014/main" id="{4CF3D90D-66DD-7EC6-85D8-DFB78C82C1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9751" y="1340480"/>
            <a:ext cx="12100560" cy="8138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9171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8C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71F2F0-E2BE-2A48-D935-831B5D238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3495FB07-7492-0C95-4187-F66B92C1F7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929" y="259278"/>
            <a:ext cx="17602200" cy="95631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3A642CA6-DB82-BB11-BAB2-B9A25514D5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7990" y="798654"/>
            <a:ext cx="7295210" cy="18923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C0E88850-66AF-B417-A966-099FFC9518F1}"/>
              </a:ext>
            </a:extLst>
          </p:cNvPr>
          <p:cNvSpPr txBox="1"/>
          <p:nvPr/>
        </p:nvSpPr>
        <p:spPr>
          <a:xfrm>
            <a:off x="685800" y="38100"/>
            <a:ext cx="12115800" cy="160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99600"/>
              </a:lnSpc>
            </a:pPr>
            <a:r>
              <a:rPr lang="ko-KR" altLang="en-US" sz="5500" spc="-200" err="1">
                <a:solidFill>
                  <a:srgbClr val="002841"/>
                </a:solidFill>
                <a:ea typeface="Hallym Gothic Bold"/>
                <a:cs typeface="Calibri"/>
              </a:rPr>
              <a:t>하이퍼</a:t>
            </a:r>
            <a:r>
              <a:rPr lang="ko-KR" altLang="en-US" sz="5500" spc="-200">
                <a:solidFill>
                  <a:srgbClr val="002841"/>
                </a:solidFill>
                <a:ea typeface="Hallym Gothic Bold"/>
                <a:cs typeface="Calibri"/>
              </a:rPr>
              <a:t> 파라미터 튜닝 테스트 결과</a:t>
            </a:r>
            <a:endParaRPr lang="ko-KR" altLang="en-US" sz="5500" b="0" i="0" u="none" strike="noStrike" spc="-200">
              <a:solidFill>
                <a:srgbClr val="002841"/>
              </a:solidFill>
              <a:ea typeface="Hallym Gothic Bold"/>
              <a:cs typeface="Calibri"/>
            </a:endParaRPr>
          </a:p>
        </p:txBody>
      </p:sp>
      <p:pic>
        <p:nvPicPr>
          <p:cNvPr id="4" name="그림 3" descr="텍스트, 친필, 도표, 폰트이(가) 표시된 사진&#10;&#10;자동 생성된 설명">
            <a:extLst>
              <a:ext uri="{FF2B5EF4-FFF2-40B4-BE49-F238E27FC236}">
                <a16:creationId xmlns:a16="http://schemas.microsoft.com/office/drawing/2014/main" id="{8EF1C8D2-5EB9-3CC7-8557-DBD0DEB5A7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929" y="1134558"/>
            <a:ext cx="13197840" cy="8793480"/>
          </a:xfrm>
          <a:prstGeom prst="rect">
            <a:avLst/>
          </a:prstGeom>
        </p:spPr>
      </p:pic>
      <p:sp>
        <p:nvSpPr>
          <p:cNvPr id="3" name="TextBox 9">
            <a:extLst>
              <a:ext uri="{FF2B5EF4-FFF2-40B4-BE49-F238E27FC236}">
                <a16:creationId xmlns:a16="http://schemas.microsoft.com/office/drawing/2014/main" id="{CA4BD1BD-29D0-C2AD-B931-04AB6BF45066}"/>
              </a:ext>
            </a:extLst>
          </p:cNvPr>
          <p:cNvSpPr txBox="1"/>
          <p:nvPr/>
        </p:nvSpPr>
        <p:spPr>
          <a:xfrm>
            <a:off x="13674008" y="2990522"/>
            <a:ext cx="4717231" cy="430595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124499"/>
              </a:lnSpc>
            </a:pPr>
            <a:r>
              <a:rPr lang="ko-KR" altLang="en-US" sz="3200" spc="-200" dirty="0">
                <a:solidFill>
                  <a:srgbClr val="FF0000"/>
                </a:solidFill>
                <a:latin typeface="Hallym Gothic Bold"/>
                <a:ea typeface="맑은 고딕"/>
              </a:rPr>
              <a:t>전체적인 단가의 흐름은 예측하는데 성공 </a:t>
            </a:r>
            <a:endParaRPr lang="en-US" altLang="ko-KR" sz="3200" spc="-200" dirty="0">
              <a:solidFill>
                <a:srgbClr val="FF0000"/>
              </a:solidFill>
              <a:latin typeface="Hallym Gothic Bold"/>
              <a:ea typeface="맑은 고딕"/>
            </a:endParaRPr>
          </a:p>
          <a:p>
            <a:pPr>
              <a:lnSpc>
                <a:spcPct val="124499"/>
              </a:lnSpc>
            </a:pPr>
            <a:endParaRPr lang="en-US" altLang="ko-KR" sz="3200" spc="-200" dirty="0">
              <a:solidFill>
                <a:srgbClr val="FF0000"/>
              </a:solidFill>
              <a:latin typeface="Hallym Gothic Bold"/>
              <a:ea typeface="맑은 고딕"/>
            </a:endParaRPr>
          </a:p>
          <a:p>
            <a:pPr>
              <a:lnSpc>
                <a:spcPct val="124499"/>
              </a:lnSpc>
            </a:pPr>
            <a:r>
              <a:rPr lang="ko-KR" altLang="en-US" sz="3200" spc="-200" dirty="0">
                <a:solidFill>
                  <a:srgbClr val="FF0000"/>
                </a:solidFill>
                <a:latin typeface="Hallym Gothic Bold"/>
                <a:ea typeface="맑은 고딕"/>
              </a:rPr>
              <a:t>하지만</a:t>
            </a:r>
            <a:r>
              <a:rPr lang="en-US" altLang="ko-KR" sz="3200" spc="-200" dirty="0">
                <a:solidFill>
                  <a:srgbClr val="FF0000"/>
                </a:solidFill>
                <a:latin typeface="Hallym Gothic Bold"/>
                <a:ea typeface="맑은 고딕"/>
              </a:rPr>
              <a:t>,</a:t>
            </a:r>
            <a:r>
              <a:rPr lang="ko-KR" altLang="en-US" sz="3200" spc="-200" dirty="0">
                <a:solidFill>
                  <a:srgbClr val="FF0000"/>
                </a:solidFill>
                <a:latin typeface="Hallym Gothic Bold"/>
                <a:ea typeface="맑은 고딕"/>
              </a:rPr>
              <a:t> 단가가 급등하거나 급락하는 경우에는 예측 실패 확인</a:t>
            </a:r>
          </a:p>
        </p:txBody>
      </p:sp>
    </p:spTree>
    <p:extLst>
      <p:ext uri="{BB962C8B-B14F-4D97-AF65-F5344CB8AC3E}">
        <p14:creationId xmlns:p14="http://schemas.microsoft.com/office/powerpoint/2010/main" val="10587760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8C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0CD902-28C3-3CCC-0262-064E6D0AD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67A2EBB-2543-08A6-D9F3-EF13AC807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929" y="259278"/>
            <a:ext cx="17602200" cy="95631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8AEAFE7B-4C2C-0C13-7C4F-495B136AF4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2148" y="1260578"/>
            <a:ext cx="7882008" cy="20436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CFCC8A87-AEEF-88C2-7193-25B0C505DB83}"/>
              </a:ext>
            </a:extLst>
          </p:cNvPr>
          <p:cNvSpPr txBox="1"/>
          <p:nvPr/>
        </p:nvSpPr>
        <p:spPr>
          <a:xfrm>
            <a:off x="685800" y="468563"/>
            <a:ext cx="11090340" cy="160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99600"/>
              </a:lnSpc>
            </a:pPr>
            <a:r>
              <a:rPr lang="ko-KR" altLang="en-US" sz="5500" spc="-200" err="1">
                <a:solidFill>
                  <a:srgbClr val="002841"/>
                </a:solidFill>
                <a:ea typeface="Hallym Gothic Bold"/>
              </a:rPr>
              <a:t>하이퍼</a:t>
            </a:r>
            <a:r>
              <a:rPr lang="ko-KR" altLang="en-US" sz="5500" spc="-200">
                <a:solidFill>
                  <a:srgbClr val="002841"/>
                </a:solidFill>
                <a:ea typeface="Hallym Gothic Bold"/>
              </a:rPr>
              <a:t> 파라미터 튜닝 모델 비교</a:t>
            </a:r>
            <a:endParaRPr lang="ko-KR" altLang="en-US" sz="5500" b="0" i="0" u="none" strike="noStrike" spc="-200">
              <a:solidFill>
                <a:srgbClr val="002841"/>
              </a:solidFill>
              <a:ea typeface="Hallym Gothic Bold"/>
              <a:cs typeface="Calibri"/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497C5E28-C808-5258-C96A-51B5A55242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1037270"/>
              </p:ext>
            </p:extLst>
          </p:nvPr>
        </p:nvGraphicFramePr>
        <p:xfrm>
          <a:off x="11534907" y="3070063"/>
          <a:ext cx="5794446" cy="3934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1482">
                  <a:extLst>
                    <a:ext uri="{9D8B030D-6E8A-4147-A177-3AD203B41FA5}">
                      <a16:colId xmlns:a16="http://schemas.microsoft.com/office/drawing/2014/main" val="3291234914"/>
                    </a:ext>
                  </a:extLst>
                </a:gridCol>
                <a:gridCol w="1931482">
                  <a:extLst>
                    <a:ext uri="{9D8B030D-6E8A-4147-A177-3AD203B41FA5}">
                      <a16:colId xmlns:a16="http://schemas.microsoft.com/office/drawing/2014/main" val="2095103414"/>
                    </a:ext>
                  </a:extLst>
                </a:gridCol>
                <a:gridCol w="1931482">
                  <a:extLst>
                    <a:ext uri="{9D8B030D-6E8A-4147-A177-3AD203B41FA5}">
                      <a16:colId xmlns:a16="http://schemas.microsoft.com/office/drawing/2014/main" val="204066213"/>
                    </a:ext>
                  </a:extLst>
                </a:gridCol>
              </a:tblGrid>
              <a:tr h="131158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sz="36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84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600" dirty="0">
                          <a:solidFill>
                            <a:schemeClr val="bg1"/>
                          </a:solidFill>
                        </a:rPr>
                        <a:t>튜닝 전</a:t>
                      </a:r>
                    </a:p>
                  </a:txBody>
                  <a:tcPr anchor="ctr">
                    <a:solidFill>
                      <a:srgbClr val="00284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600">
                          <a:solidFill>
                            <a:schemeClr val="bg1"/>
                          </a:solidFill>
                        </a:rPr>
                        <a:t>튜닝 후</a:t>
                      </a:r>
                    </a:p>
                  </a:txBody>
                  <a:tcPr anchor="ctr">
                    <a:solidFill>
                      <a:srgbClr val="00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036139"/>
                  </a:ext>
                </a:extLst>
              </a:tr>
              <a:tr h="131158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3600" dirty="0">
                          <a:solidFill>
                            <a:schemeClr val="tx1"/>
                          </a:solidFill>
                        </a:rPr>
                        <a:t>MAPE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>
                          <a:solidFill>
                            <a:schemeClr val="tx1"/>
                          </a:solidFill>
                        </a:rPr>
                        <a:t>36.99%</a:t>
                      </a:r>
                      <a:endParaRPr lang="ko-KR" altLang="en-US" sz="36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600" dirty="0">
                          <a:solidFill>
                            <a:srgbClr val="FF0000"/>
                          </a:solidFill>
                        </a:rPr>
                        <a:t>29.</a:t>
                      </a:r>
                      <a:r>
                        <a:rPr lang="en-US" altLang="ko-KR" sz="3600">
                          <a:solidFill>
                            <a:srgbClr val="FF0000"/>
                          </a:solidFill>
                        </a:rPr>
                        <a:t>50</a:t>
                      </a:r>
                      <a:r>
                        <a:rPr lang="ko-KR" altLang="en-US" sz="3600">
                          <a:solidFill>
                            <a:srgbClr val="FF0000"/>
                          </a:solidFill>
                        </a:rPr>
                        <a:t>%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2529952"/>
                  </a:ext>
                </a:extLst>
              </a:tr>
              <a:tr h="131158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3600">
                          <a:solidFill>
                            <a:schemeClr val="tx1"/>
                          </a:solidFill>
                        </a:rPr>
                        <a:t>MAE</a:t>
                      </a:r>
                    </a:p>
                  </a:txBody>
                  <a:tcPr anchor="ctr"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>
                          <a:solidFill>
                            <a:schemeClr val="tx1"/>
                          </a:solidFill>
                        </a:rPr>
                        <a:t>2000.86</a:t>
                      </a:r>
                      <a:endParaRPr lang="ko-KR" altLang="en-US" sz="36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600" dirty="0">
                          <a:solidFill>
                            <a:srgbClr val="FF0000"/>
                          </a:solidFill>
                        </a:rPr>
                        <a:t>16</a:t>
                      </a:r>
                      <a:r>
                        <a:rPr lang="en-US" altLang="ko-KR" sz="3600" dirty="0">
                          <a:solidFill>
                            <a:srgbClr val="FF0000"/>
                          </a:solidFill>
                        </a:rPr>
                        <a:t>66</a:t>
                      </a:r>
                      <a:r>
                        <a:rPr lang="ko-KR" altLang="en-US" sz="3600" dirty="0">
                          <a:solidFill>
                            <a:srgbClr val="FF0000"/>
                          </a:solidFill>
                        </a:rPr>
                        <a:t>.</a:t>
                      </a:r>
                      <a:r>
                        <a:rPr lang="en-US" altLang="ko-KR" sz="3600" dirty="0">
                          <a:solidFill>
                            <a:srgbClr val="FF0000"/>
                          </a:solidFill>
                        </a:rPr>
                        <a:t>73</a:t>
                      </a:r>
                      <a:endParaRPr lang="ko-KR" altLang="en-US" sz="36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rgbClr val="DDD9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2987124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C3CCEC3E-B1FE-7551-8905-DBED3EB41F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9297601"/>
              </p:ext>
            </p:extLst>
          </p:nvPr>
        </p:nvGraphicFramePr>
        <p:xfrm>
          <a:off x="685800" y="2068763"/>
          <a:ext cx="9638805" cy="706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2935">
                  <a:extLst>
                    <a:ext uri="{9D8B030D-6E8A-4147-A177-3AD203B41FA5}">
                      <a16:colId xmlns:a16="http://schemas.microsoft.com/office/drawing/2014/main" val="1865368601"/>
                    </a:ext>
                  </a:extLst>
                </a:gridCol>
                <a:gridCol w="3212935">
                  <a:extLst>
                    <a:ext uri="{9D8B030D-6E8A-4147-A177-3AD203B41FA5}">
                      <a16:colId xmlns:a16="http://schemas.microsoft.com/office/drawing/2014/main" val="681313594"/>
                    </a:ext>
                  </a:extLst>
                </a:gridCol>
                <a:gridCol w="3212935">
                  <a:extLst>
                    <a:ext uri="{9D8B030D-6E8A-4147-A177-3AD203B41FA5}">
                      <a16:colId xmlns:a16="http://schemas.microsoft.com/office/drawing/2014/main" val="2586375626"/>
                    </a:ext>
                  </a:extLst>
                </a:gridCol>
              </a:tblGrid>
              <a:tr h="706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/>
                        <a:t>어종</a:t>
                      </a:r>
                    </a:p>
                  </a:txBody>
                  <a:tcPr anchor="ctr">
                    <a:solidFill>
                      <a:srgbClr val="00284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MAE</a:t>
                      </a:r>
                      <a:endParaRPr lang="ko-KR" altLang="en-US" sz="3200" dirty="0"/>
                    </a:p>
                  </a:txBody>
                  <a:tcPr anchor="ctr">
                    <a:solidFill>
                      <a:srgbClr val="00284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MAPE</a:t>
                      </a:r>
                      <a:endParaRPr lang="ko-KR" altLang="en-US" sz="3200" dirty="0"/>
                    </a:p>
                  </a:txBody>
                  <a:tcPr anchor="ctr">
                    <a:solidFill>
                      <a:srgbClr val="00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257809"/>
                  </a:ext>
                </a:extLst>
              </a:tr>
              <a:tr h="706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/>
                        <a:t>갈치</a:t>
                      </a:r>
                      <a:r>
                        <a:rPr lang="en-US" altLang="ko-KR" sz="3200" dirty="0"/>
                        <a:t>(</a:t>
                      </a:r>
                      <a:r>
                        <a:rPr lang="ko-KR" altLang="en-US" sz="3200" dirty="0"/>
                        <a:t>상</a:t>
                      </a:r>
                      <a:r>
                        <a:rPr lang="en-US" altLang="ko-KR" sz="3200" dirty="0"/>
                        <a:t>) </a:t>
                      </a:r>
                      <a:r>
                        <a:rPr lang="ko-KR" altLang="en-US" sz="3200" dirty="0"/>
                        <a:t>단가</a:t>
                      </a:r>
                    </a:p>
                  </a:txBody>
                  <a:tcPr anchor="ctr">
                    <a:solidFill>
                      <a:srgbClr val="C4BD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2398.656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rgbClr val="C4BD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25.91449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rgbClr val="C4BD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529437"/>
                  </a:ext>
                </a:extLst>
              </a:tr>
              <a:tr h="706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200" dirty="0"/>
                        <a:t>갈치</a:t>
                      </a:r>
                      <a:r>
                        <a:rPr lang="en-US" altLang="ko-KR" sz="3200" dirty="0"/>
                        <a:t>(</a:t>
                      </a:r>
                      <a:r>
                        <a:rPr lang="ko-KR" altLang="en-US" sz="3200" dirty="0"/>
                        <a:t>중</a:t>
                      </a:r>
                      <a:r>
                        <a:rPr lang="en-US" altLang="ko-KR" sz="3200" dirty="0"/>
                        <a:t>) </a:t>
                      </a:r>
                      <a:r>
                        <a:rPr lang="ko-KR" altLang="en-US" sz="3200" dirty="0"/>
                        <a:t>단가</a:t>
                      </a:r>
                    </a:p>
                  </a:txBody>
                  <a:tcPr anchor="ctr"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552.1289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14.30542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rgbClr val="DDD9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7531896"/>
                  </a:ext>
                </a:extLst>
              </a:tr>
              <a:tr h="706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200" dirty="0"/>
                        <a:t>갈치</a:t>
                      </a:r>
                      <a:r>
                        <a:rPr lang="en-US" altLang="ko-KR" sz="3200" dirty="0"/>
                        <a:t>(</a:t>
                      </a:r>
                      <a:r>
                        <a:rPr lang="ko-KR" altLang="en-US" sz="3200" dirty="0"/>
                        <a:t>하</a:t>
                      </a:r>
                      <a:r>
                        <a:rPr lang="en-US" altLang="ko-KR" sz="3200" dirty="0"/>
                        <a:t>) </a:t>
                      </a:r>
                      <a:r>
                        <a:rPr lang="ko-KR" altLang="en-US" sz="3200" dirty="0"/>
                        <a:t>단가</a:t>
                      </a:r>
                    </a:p>
                  </a:txBody>
                  <a:tcPr anchor="ctr">
                    <a:solidFill>
                      <a:srgbClr val="C4BD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407.5372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rgbClr val="C4BD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24.48238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rgbClr val="C4BD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316569"/>
                  </a:ext>
                </a:extLst>
              </a:tr>
              <a:tr h="706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/>
                        <a:t>고등어</a:t>
                      </a:r>
                      <a:r>
                        <a:rPr lang="en-US" altLang="ko-KR" sz="3200" dirty="0"/>
                        <a:t>(</a:t>
                      </a:r>
                      <a:r>
                        <a:rPr lang="ko-KR" altLang="en-US" sz="3200" dirty="0"/>
                        <a:t>상</a:t>
                      </a:r>
                      <a:r>
                        <a:rPr lang="en-US" altLang="ko-KR" sz="3200" dirty="0"/>
                        <a:t>) </a:t>
                      </a:r>
                      <a:r>
                        <a:rPr lang="ko-KR" altLang="en-US" sz="3200" dirty="0"/>
                        <a:t>단가</a:t>
                      </a:r>
                    </a:p>
                  </a:txBody>
                  <a:tcPr anchor="ctr"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3062.921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33.67486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rgbClr val="DDD9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788026"/>
                  </a:ext>
                </a:extLst>
              </a:tr>
              <a:tr h="706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/>
                        <a:t>고등어</a:t>
                      </a:r>
                      <a:r>
                        <a:rPr lang="en-US" altLang="ko-KR" sz="3200" dirty="0"/>
                        <a:t>(</a:t>
                      </a:r>
                      <a:r>
                        <a:rPr lang="ko-KR" altLang="en-US" sz="3200" dirty="0"/>
                        <a:t>중</a:t>
                      </a:r>
                      <a:r>
                        <a:rPr lang="en-US" altLang="ko-KR" sz="3200" dirty="0"/>
                        <a:t>) </a:t>
                      </a:r>
                      <a:r>
                        <a:rPr lang="ko-KR" altLang="en-US" sz="3200" dirty="0"/>
                        <a:t>단가</a:t>
                      </a:r>
                    </a:p>
                  </a:txBody>
                  <a:tcPr anchor="ctr">
                    <a:solidFill>
                      <a:srgbClr val="C4BD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1720.998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rgbClr val="C4BD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26.92874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rgbClr val="C4BD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8196988"/>
                  </a:ext>
                </a:extLst>
              </a:tr>
              <a:tr h="706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/>
                        <a:t>고등어</a:t>
                      </a:r>
                      <a:r>
                        <a:rPr lang="en-US" altLang="ko-KR" sz="3200" dirty="0"/>
                        <a:t>(</a:t>
                      </a:r>
                      <a:r>
                        <a:rPr lang="ko-KR" altLang="en-US" sz="3200" dirty="0"/>
                        <a:t>하</a:t>
                      </a:r>
                      <a:r>
                        <a:rPr lang="en-US" altLang="ko-KR" sz="3200" dirty="0"/>
                        <a:t>) </a:t>
                      </a:r>
                      <a:r>
                        <a:rPr lang="ko-KR" altLang="en-US" sz="3200" dirty="0"/>
                        <a:t>단가</a:t>
                      </a:r>
                    </a:p>
                  </a:txBody>
                  <a:tcPr anchor="ctr"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1514.853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34.0115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rgbClr val="DDD9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7769167"/>
                  </a:ext>
                </a:extLst>
              </a:tr>
              <a:tr h="706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 err="1"/>
                        <a:t>갈고등어</a:t>
                      </a:r>
                      <a:r>
                        <a:rPr lang="ko-KR" altLang="en-US" sz="3200" dirty="0"/>
                        <a:t> 단가</a:t>
                      </a:r>
                    </a:p>
                  </a:txBody>
                  <a:tcPr anchor="ctr">
                    <a:solidFill>
                      <a:srgbClr val="C4BD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673.5603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rgbClr val="C4BD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42.01074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rgbClr val="C4BD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238373"/>
                  </a:ext>
                </a:extLst>
              </a:tr>
              <a:tr h="706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/>
                        <a:t>갑오징어 단가</a:t>
                      </a:r>
                    </a:p>
                  </a:txBody>
                  <a:tcPr anchor="ctr"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2913.486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33.26812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rgbClr val="DDD9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309095"/>
                  </a:ext>
                </a:extLst>
              </a:tr>
              <a:tr h="706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/>
                        <a:t>오징어</a:t>
                      </a:r>
                      <a:r>
                        <a:rPr lang="en-US" altLang="ko-KR" sz="3200" dirty="0"/>
                        <a:t>A </a:t>
                      </a:r>
                      <a:r>
                        <a:rPr lang="ko-KR" altLang="en-US" sz="3200" dirty="0"/>
                        <a:t>단가</a:t>
                      </a:r>
                    </a:p>
                  </a:txBody>
                  <a:tcPr anchor="ctr">
                    <a:solidFill>
                      <a:srgbClr val="C4BD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1612.13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rgbClr val="C4BD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28.91982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rgbClr val="C4BD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603954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90A0EBD6-CD7B-4B04-6BEB-B3308A5683B7}"/>
              </a:ext>
            </a:extLst>
          </p:cNvPr>
          <p:cNvSpPr/>
          <p:nvPr/>
        </p:nvSpPr>
        <p:spPr>
          <a:xfrm>
            <a:off x="676773" y="3468937"/>
            <a:ext cx="9647832" cy="763849"/>
          </a:xfrm>
          <a:prstGeom prst="rect">
            <a:avLst/>
          </a:prstGeom>
          <a:noFill/>
          <a:ln w="142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97358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8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614" y="190500"/>
            <a:ext cx="17602200" cy="9563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0" y="1223713"/>
            <a:ext cx="13952399" cy="41775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762000" y="723900"/>
            <a:ext cx="88646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5500" spc="-200">
                <a:solidFill>
                  <a:srgbClr val="002841"/>
                </a:solidFill>
                <a:ea typeface="Hallym Gothic Bold"/>
              </a:rPr>
              <a:t>결과 분석</a:t>
            </a:r>
            <a:endParaRPr lang="ko-KR" sz="5500" b="0" i="0" u="none" strike="noStrike" spc="-200">
              <a:solidFill>
                <a:srgbClr val="002841"/>
              </a:solidFill>
              <a:ea typeface="Hallym Gothic Bold"/>
            </a:endParaRPr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8C1C0C8F-A69C-88E1-471C-6916DFB8511B}"/>
              </a:ext>
            </a:extLst>
          </p:cNvPr>
          <p:cNvSpPr txBox="1"/>
          <p:nvPr/>
        </p:nvSpPr>
        <p:spPr>
          <a:xfrm>
            <a:off x="1013572" y="1615563"/>
            <a:ext cx="16866814" cy="705587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150000"/>
              </a:lnSpc>
            </a:pPr>
            <a:r>
              <a:rPr lang="ko-KR" altLang="en-US" sz="3200" spc="-200" dirty="0">
                <a:solidFill>
                  <a:srgbClr val="002841"/>
                </a:solidFill>
                <a:latin typeface="Hallym Gothic Bold"/>
                <a:ea typeface="+mn-lt"/>
                <a:cs typeface="+mn-lt"/>
              </a:rPr>
              <a:t>날씨와 어획량 데이터를 이용하여 학습을 진행한 뒤 어획량 단가를</a:t>
            </a:r>
            <a:r>
              <a:rPr lang="en-US" altLang="ko-KR" sz="3200" spc="-200" dirty="0">
                <a:solidFill>
                  <a:srgbClr val="002841"/>
                </a:solidFill>
                <a:latin typeface="Hallym Gothic Bold"/>
                <a:ea typeface="+mn-lt"/>
                <a:cs typeface="+mn-lt"/>
              </a:rPr>
              <a:t> </a:t>
            </a:r>
            <a:r>
              <a:rPr lang="ko-KR" altLang="en-US" sz="3200" spc="-200" dirty="0">
                <a:solidFill>
                  <a:srgbClr val="002841"/>
                </a:solidFill>
                <a:latin typeface="Hallym Gothic Bold"/>
                <a:ea typeface="+mn-lt"/>
                <a:cs typeface="+mn-lt"/>
              </a:rPr>
              <a:t>예측하여 실제 값과 비교 진행</a:t>
            </a:r>
            <a:endParaRPr lang="en-US" altLang="ko-KR" sz="3200" spc="-200" dirty="0">
              <a:solidFill>
                <a:srgbClr val="002841"/>
              </a:solidFill>
              <a:latin typeface="Hallym Gothic Bold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endParaRPr lang="en-US" altLang="ko-KR" sz="3200" spc="-200" dirty="0">
              <a:solidFill>
                <a:srgbClr val="002841"/>
              </a:solidFill>
              <a:latin typeface="Hallym Gothic Bold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altLang="ko-KR" sz="3200" spc="-200" dirty="0">
                <a:solidFill>
                  <a:srgbClr val="002841"/>
                </a:solidFill>
                <a:latin typeface="Hallym Gothic Bold"/>
                <a:ea typeface="+mn-lt"/>
                <a:cs typeface="+mn-lt"/>
              </a:rPr>
              <a:t>- </a:t>
            </a:r>
            <a:r>
              <a:rPr lang="ko-KR" altLang="en-US" sz="3200" spc="-200" dirty="0">
                <a:solidFill>
                  <a:srgbClr val="FF0000"/>
                </a:solidFill>
                <a:latin typeface="Hallym Gothic Bold"/>
                <a:ea typeface="+mn-lt"/>
                <a:cs typeface="+mn-lt"/>
              </a:rPr>
              <a:t>날씨별 단가의 흐름은 잘 예측</a:t>
            </a:r>
            <a:endParaRPr lang="en-US" altLang="ko-KR" sz="3200" spc="-200" dirty="0">
              <a:solidFill>
                <a:srgbClr val="FF0000"/>
              </a:solidFill>
              <a:latin typeface="Hallym Gothic Bold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altLang="ko-KR" sz="3200" spc="-200" dirty="0">
                <a:solidFill>
                  <a:srgbClr val="002841"/>
                </a:solidFill>
                <a:latin typeface="Hallym Gothic Bold"/>
                <a:ea typeface="+mn-lt"/>
                <a:cs typeface="+mn-lt"/>
              </a:rPr>
              <a:t>But, </a:t>
            </a:r>
            <a:r>
              <a:rPr lang="ko-KR" altLang="en-US" sz="3200" spc="-200" dirty="0">
                <a:solidFill>
                  <a:srgbClr val="002841"/>
                </a:solidFill>
                <a:latin typeface="Hallym Gothic Bold"/>
                <a:ea typeface="+mn-lt"/>
                <a:cs typeface="+mn-lt"/>
              </a:rPr>
              <a:t>단가가 갑작스럽게 급등하거나 급락했던 경우는 예측하기 어려워 하는 상황 발생</a:t>
            </a:r>
            <a:endParaRPr lang="en-US" altLang="ko-KR" sz="3200" spc="-200" dirty="0">
              <a:solidFill>
                <a:srgbClr val="002841"/>
              </a:solidFill>
              <a:latin typeface="Hallym Gothic Bold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endParaRPr lang="en-US" altLang="ko-KR" sz="3200" spc="-200" dirty="0">
              <a:solidFill>
                <a:srgbClr val="002841"/>
              </a:solidFill>
              <a:latin typeface="Hallym Gothic Bold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ko-KR" altLang="en-US" sz="3200" spc="-200" dirty="0">
                <a:solidFill>
                  <a:srgbClr val="002841"/>
                </a:solidFill>
                <a:latin typeface="Hallym Gothic Bold"/>
                <a:ea typeface="+mn-lt"/>
                <a:cs typeface="+mn-lt"/>
              </a:rPr>
              <a:t>이를 해결하기 위해 </a:t>
            </a:r>
            <a:r>
              <a:rPr lang="ko-KR" altLang="en-US" sz="3200" spc="-200" dirty="0" err="1">
                <a:solidFill>
                  <a:srgbClr val="002841"/>
                </a:solidFill>
                <a:latin typeface="Hallym Gothic Bold"/>
                <a:ea typeface="+mn-lt"/>
                <a:cs typeface="+mn-lt"/>
              </a:rPr>
              <a:t>하이퍼</a:t>
            </a:r>
            <a:r>
              <a:rPr lang="ko-KR" altLang="en-US" sz="3200" spc="-200" dirty="0">
                <a:solidFill>
                  <a:srgbClr val="002841"/>
                </a:solidFill>
                <a:latin typeface="Hallym Gothic Bold"/>
                <a:ea typeface="+mn-lt"/>
                <a:cs typeface="+mn-lt"/>
              </a:rPr>
              <a:t> 파라미터 튜닝을 진행하여  </a:t>
            </a:r>
            <a:r>
              <a:rPr lang="ko-KR" altLang="en-US" sz="3200" spc="-200" dirty="0">
                <a:solidFill>
                  <a:srgbClr val="FF0000"/>
                </a:solidFill>
                <a:latin typeface="Hallym Gothic Bold"/>
                <a:ea typeface="+mn-lt"/>
                <a:cs typeface="+mn-lt"/>
              </a:rPr>
              <a:t>오차 범위를 줄이는 것에 성공</a:t>
            </a:r>
            <a:endParaRPr lang="en-US" altLang="ko-KR" sz="3200" spc="-200" dirty="0">
              <a:solidFill>
                <a:srgbClr val="FF0000"/>
              </a:solidFill>
              <a:latin typeface="Hallym Gothic Bold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ko-KR" altLang="en-US" sz="3200" spc="-200" dirty="0">
                <a:solidFill>
                  <a:srgbClr val="002841"/>
                </a:solidFill>
                <a:latin typeface="Hallym Gothic Bold"/>
                <a:ea typeface="+mn-lt"/>
                <a:cs typeface="+mn-lt"/>
              </a:rPr>
              <a:t>급등, 급락은 여전히 예측이 어려운 것으로 보아 </a:t>
            </a:r>
            <a:r>
              <a:rPr lang="ko-KR" altLang="en-US" sz="3200" spc="-200" dirty="0">
                <a:solidFill>
                  <a:srgbClr val="0070C0"/>
                </a:solidFill>
                <a:latin typeface="Hallym Gothic Bold"/>
                <a:ea typeface="+mn-lt"/>
                <a:cs typeface="+mn-lt"/>
              </a:rPr>
              <a:t>데이터가 부족하거나</a:t>
            </a:r>
            <a:r>
              <a:rPr lang="ko-KR" altLang="en-US" sz="3200" spc="-200" dirty="0">
                <a:solidFill>
                  <a:srgbClr val="002841"/>
                </a:solidFill>
                <a:latin typeface="Hallym Gothic Bold"/>
                <a:ea typeface="+mn-lt"/>
                <a:cs typeface="+mn-lt"/>
              </a:rPr>
              <a:t> </a:t>
            </a:r>
            <a:r>
              <a:rPr lang="ko-KR" altLang="en-US" sz="3200" spc="-200" dirty="0">
                <a:solidFill>
                  <a:srgbClr val="0070C0"/>
                </a:solidFill>
                <a:latin typeface="Hallym Gothic Bold"/>
                <a:ea typeface="+mn-lt"/>
                <a:cs typeface="+mn-lt"/>
              </a:rPr>
              <a:t>날씨 외 다른 영향이 있을 것으로 판단</a:t>
            </a:r>
            <a:endParaRPr lang="en-US" altLang="ko-KR" sz="3200" spc="-200" dirty="0">
              <a:solidFill>
                <a:srgbClr val="0070C0"/>
              </a:solidFill>
              <a:latin typeface="Hallym Gothic Bold"/>
              <a:ea typeface="+mn-lt"/>
              <a:cs typeface="+mn-lt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ko-KR" altLang="en-US" sz="3200" spc="-200" dirty="0">
                <a:solidFill>
                  <a:srgbClr val="002841"/>
                </a:solidFill>
                <a:latin typeface="Hallym Gothic Bold"/>
                <a:ea typeface="+mn-lt"/>
                <a:cs typeface="+mn-lt"/>
              </a:rPr>
              <a:t>추가 데이터</a:t>
            </a:r>
            <a:r>
              <a:rPr lang="en-US" altLang="ko-KR" sz="3200" spc="-200" dirty="0">
                <a:solidFill>
                  <a:srgbClr val="002841"/>
                </a:solidFill>
                <a:latin typeface="Hallym Gothic Bold"/>
                <a:ea typeface="+mn-lt"/>
                <a:cs typeface="+mn-lt"/>
              </a:rPr>
              <a:t>, </a:t>
            </a:r>
            <a:r>
              <a:rPr lang="ko-KR" altLang="en-US" sz="3200" spc="-200" dirty="0">
                <a:solidFill>
                  <a:srgbClr val="002841"/>
                </a:solidFill>
                <a:latin typeface="Hallym Gothic Bold"/>
                <a:ea typeface="+mn-lt"/>
                <a:cs typeface="+mn-lt"/>
              </a:rPr>
              <a:t>날씨 외 추가적인 데이터 수집 필요</a:t>
            </a:r>
            <a:endParaRPr lang="en-US" altLang="ko-KR" sz="3200" spc="-200" dirty="0">
              <a:solidFill>
                <a:srgbClr val="002841"/>
              </a:solidFill>
              <a:latin typeface="Hallym Gothic Bold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ko-KR" altLang="en-US" sz="3200" spc="-200" dirty="0">
                <a:solidFill>
                  <a:srgbClr val="002841"/>
                </a:solidFill>
                <a:latin typeface="Hallym Gothic Bold"/>
                <a:ea typeface="+mn-lt"/>
                <a:cs typeface="+mn-lt"/>
              </a:rPr>
              <a:t>(</a:t>
            </a:r>
            <a:r>
              <a:rPr lang="ko-KR" altLang="en-US" sz="3200" spc="-200" dirty="0" err="1">
                <a:solidFill>
                  <a:srgbClr val="002841"/>
                </a:solidFill>
                <a:latin typeface="Hallym Gothic Bold"/>
                <a:ea typeface="+mn-lt"/>
                <a:cs typeface="+mn-lt"/>
              </a:rPr>
              <a:t>ex</a:t>
            </a:r>
            <a:r>
              <a:rPr lang="ko-KR" altLang="en-US" sz="3200" spc="-200" dirty="0">
                <a:solidFill>
                  <a:srgbClr val="002841"/>
                </a:solidFill>
                <a:latin typeface="Hallym Gothic Bold"/>
                <a:ea typeface="+mn-lt"/>
                <a:cs typeface="+mn-lt"/>
              </a:rPr>
              <a:t>: 수입 어획량, 환경 재해 데이터, 관세 변경 데이터 등)</a:t>
            </a:r>
            <a:endParaRPr lang="ko-KR" altLang="en-US" sz="3200" b="0" i="0" u="none" strike="noStrike" spc="-200" dirty="0">
              <a:solidFill>
                <a:srgbClr val="002841"/>
              </a:solidFill>
              <a:latin typeface="Hallym Gothic Bold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8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201" y="361950"/>
            <a:ext cx="17602200" cy="9563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2400" y="1223713"/>
            <a:ext cx="13952399" cy="41775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762000" y="723900"/>
            <a:ext cx="88646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99600"/>
              </a:lnSpc>
            </a:pPr>
            <a:r>
              <a:rPr lang="ko-KR" altLang="en-US" sz="5500" spc="-200">
                <a:solidFill>
                  <a:srgbClr val="002841"/>
                </a:solidFill>
                <a:ea typeface="Hallym Gothic Bold"/>
                <a:cs typeface="Calibri"/>
              </a:rPr>
              <a:t>데모 영상</a:t>
            </a:r>
          </a:p>
        </p:txBody>
      </p:sp>
      <p:pic>
        <p:nvPicPr>
          <p:cNvPr id="4" name="화면 녹화 중 2024-12-16 145518">
            <a:hlinkClick r:id="" action="ppaction://media"/>
            <a:extLst>
              <a:ext uri="{FF2B5EF4-FFF2-40B4-BE49-F238E27FC236}">
                <a16:creationId xmlns:a16="http://schemas.microsoft.com/office/drawing/2014/main" id="{7288C5BA-EB01-4407-B9F8-9F45AA3B8FB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291853" y="1587880"/>
            <a:ext cx="14415751" cy="7734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819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56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8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20700" y="4610100"/>
            <a:ext cx="5067300" cy="25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10100"/>
            <a:ext cx="5067300" cy="254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4826000" y="3581400"/>
            <a:ext cx="8623300" cy="1993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1200" b="0" i="0" u="none" strike="noStrike" spc="-700">
                <a:solidFill>
                  <a:srgbClr val="F1E8CE"/>
                </a:solidFill>
                <a:latin typeface="Hallym Gothic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570</Words>
  <Application>Microsoft Office PowerPoint</Application>
  <PresentationFormat>사용자 지정</PresentationFormat>
  <Paragraphs>152</Paragraphs>
  <Slides>17</Slides>
  <Notes>3</Notes>
  <HiddenSlides>0</HiddenSlides>
  <MMClips>1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4" baseType="lpstr">
      <vt:lpstr>Hallym Gothic Bold</vt:lpstr>
      <vt:lpstr>Hallym Gothic Regular</vt:lpstr>
      <vt:lpstr>맑은 고딕</vt:lpstr>
      <vt:lpstr>Arial</vt:lpstr>
      <vt:lpstr>Calibri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최재훈</cp:lastModifiedBy>
  <cp:revision>69</cp:revision>
  <dcterms:created xsi:type="dcterms:W3CDTF">2006-08-16T00:00:00Z</dcterms:created>
  <dcterms:modified xsi:type="dcterms:W3CDTF">2024-12-19T12:27:08Z</dcterms:modified>
</cp:coreProperties>
</file>